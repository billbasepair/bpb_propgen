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147470307" r:id="rId2"/>
    <p:sldId id="317" r:id="rId3"/>
    <p:sldId id="427" r:id="rId4"/>
    <p:sldId id="318" r:id="rId5"/>
    <p:sldId id="320" r:id="rId6"/>
    <p:sldId id="2147470308" r:id="rId7"/>
    <p:sldId id="2147470306" r:id="rId8"/>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785B15-084B-DA1F-26D1-A10CF30B8AE7}" name="Bill Jackson" initials="BJ" userId="S::bill.jackson@basepairbio.com::83a09423-deaf-4f76-a7a5-543c13590f93" providerId="AD"/>
  <p188:author id="{17A65F17-29E1-E3A9-D0B0-3ADDAE10306F}" name="Alex Chiu" initials="AC" userId="S::alex.chiu@basepairbio.com::53415d13-79b6-4603-9c8a-7c056c3d7ac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b Batchelor" initials="RB" lastIdx="15" clrIdx="0">
    <p:extLst>
      <p:ext uri="{19B8F6BF-5375-455C-9EA6-DF929625EA0E}">
        <p15:presenceInfo xmlns:p15="http://schemas.microsoft.com/office/powerpoint/2012/main" userId="Rob Batchelor" providerId="None"/>
      </p:ext>
    </p:extLst>
  </p:cmAuthor>
  <p:cmAuthor id="2" name="Bill Jackson" initials="BJ" lastIdx="2" clrIdx="1">
    <p:extLst>
      <p:ext uri="{19B8F6BF-5375-455C-9EA6-DF929625EA0E}">
        <p15:presenceInfo xmlns:p15="http://schemas.microsoft.com/office/powerpoint/2012/main" userId="Bill Jacks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68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ll Jackson" userId="83a09423-deaf-4f76-a7a5-543c13590f93" providerId="ADAL" clId="{0E38CA17-40DA-4099-9EAB-E5B90ABBC027}"/>
    <pc:docChg chg="custSel modSld">
      <pc:chgData name="Bill Jackson" userId="83a09423-deaf-4f76-a7a5-543c13590f93" providerId="ADAL" clId="{0E38CA17-40DA-4099-9EAB-E5B90ABBC027}" dt="2026-05-29T16:16:37.165" v="171" actId="14100"/>
      <pc:docMkLst>
        <pc:docMk/>
      </pc:docMkLst>
      <pc:sldChg chg="modSp mod">
        <pc:chgData name="Bill Jackson" userId="83a09423-deaf-4f76-a7a5-543c13590f93" providerId="ADAL" clId="{0E38CA17-40DA-4099-9EAB-E5B90ABBC027}" dt="2026-05-29T16:16:37.165" v="171" actId="14100"/>
        <pc:sldMkLst>
          <pc:docMk/>
          <pc:sldMk cId="94270699" sldId="2147470306"/>
        </pc:sldMkLst>
        <pc:spChg chg="mod">
          <ac:chgData name="Bill Jackson" userId="83a09423-deaf-4f76-a7a5-543c13590f93" providerId="ADAL" clId="{0E38CA17-40DA-4099-9EAB-E5B90ABBC027}" dt="2026-05-29T16:16:37.165" v="171" actId="14100"/>
          <ac:spMkLst>
            <pc:docMk/>
            <pc:sldMk cId="94270699" sldId="2147470306"/>
            <ac:spMk id="4" creationId="{7F2487C9-B441-410B-E12E-9AFF8D168097}"/>
          </ac:spMkLst>
        </pc:spChg>
        <pc:graphicFrameChg chg="modGraphic">
          <ac:chgData name="Bill Jackson" userId="83a09423-deaf-4f76-a7a5-543c13590f93" providerId="ADAL" clId="{0E38CA17-40DA-4099-9EAB-E5B90ABBC027}" dt="2026-05-29T16:16:10.895" v="130" actId="20577"/>
          <ac:graphicFrameMkLst>
            <pc:docMk/>
            <pc:sldMk cId="94270699" sldId="2147470306"/>
            <ac:graphicFrameMk id="20" creationId="{C6521A53-A73D-0BEF-7882-92E80C00BAEA}"/>
          </ac:graphicFrameMkLst>
        </pc:graphicFrameChg>
      </pc:sldChg>
      <pc:sldChg chg="modSp mod">
        <pc:chgData name="Bill Jackson" userId="83a09423-deaf-4f76-a7a5-543c13590f93" providerId="ADAL" clId="{0E38CA17-40DA-4099-9EAB-E5B90ABBC027}" dt="2026-05-29T16:13:36.015" v="76" actId="404"/>
        <pc:sldMkLst>
          <pc:docMk/>
          <pc:sldMk cId="2827587146" sldId="2147470307"/>
        </pc:sldMkLst>
        <pc:spChg chg="mod">
          <ac:chgData name="Bill Jackson" userId="83a09423-deaf-4f76-a7a5-543c13590f93" providerId="ADAL" clId="{0E38CA17-40DA-4099-9EAB-E5B90ABBC027}" dt="2026-05-29T16:13:36.015" v="76" actId="404"/>
          <ac:spMkLst>
            <pc:docMk/>
            <pc:sldMk cId="2827587146" sldId="2147470307"/>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6" tIns="46583" rIns="93166" bIns="46583" rtlCol="0"/>
          <a:lstStyle>
            <a:lvl1pPr algn="l">
              <a:defRPr sz="1200"/>
            </a:lvl1pPr>
          </a:lstStyle>
          <a:p>
            <a:endParaRPr lang="en-US"/>
          </a:p>
        </p:txBody>
      </p:sp>
      <p:sp>
        <p:nvSpPr>
          <p:cNvPr id="3" name="Date Placeholder 2"/>
          <p:cNvSpPr>
            <a:spLocks noGrp="1"/>
          </p:cNvSpPr>
          <p:nvPr>
            <p:ph type="dt" idx="1"/>
          </p:nvPr>
        </p:nvSpPr>
        <p:spPr>
          <a:xfrm>
            <a:off x="3970939" y="0"/>
            <a:ext cx="3037840" cy="466434"/>
          </a:xfrm>
          <a:prstGeom prst="rect">
            <a:avLst/>
          </a:prstGeom>
        </p:spPr>
        <p:txBody>
          <a:bodyPr vert="horz" lIns="93166" tIns="46583" rIns="93166" bIns="46583" rtlCol="0"/>
          <a:lstStyle>
            <a:lvl1pPr algn="r">
              <a:defRPr sz="1200"/>
            </a:lvl1pPr>
          </a:lstStyle>
          <a:p>
            <a:fld id="{6924C2F9-0650-4860-8D9D-7740EB2CA982}" type="datetimeFigureOut">
              <a:rPr lang="en-US" smtClean="0"/>
              <a:t>5/29/2026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66" tIns="46583" rIns="93166" bIns="46583"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66" tIns="46583" rIns="93166" bIns="4658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3"/>
          </a:xfrm>
          <a:prstGeom prst="rect">
            <a:avLst/>
          </a:prstGeom>
        </p:spPr>
        <p:txBody>
          <a:bodyPr vert="horz" lIns="93166" tIns="46583" rIns="93166" bIns="46583" rtlCol="0" anchor="b"/>
          <a:lstStyle>
            <a:lvl1pPr algn="l">
              <a:defRPr sz="1200"/>
            </a:lvl1pPr>
          </a:lstStyle>
          <a:p>
            <a:endParaRPr lang="en-US"/>
          </a:p>
        </p:txBody>
      </p:sp>
      <p:sp>
        <p:nvSpPr>
          <p:cNvPr id="7" name="Slide Number Placeholder 6"/>
          <p:cNvSpPr>
            <a:spLocks noGrp="1"/>
          </p:cNvSpPr>
          <p:nvPr>
            <p:ph type="sldNum" sz="quarter" idx="5"/>
          </p:nvPr>
        </p:nvSpPr>
        <p:spPr>
          <a:xfrm>
            <a:off x="3970939" y="8829968"/>
            <a:ext cx="3037840" cy="466433"/>
          </a:xfrm>
          <a:prstGeom prst="rect">
            <a:avLst/>
          </a:prstGeom>
        </p:spPr>
        <p:txBody>
          <a:bodyPr vert="horz" lIns="93166" tIns="46583" rIns="93166" bIns="46583" rtlCol="0" anchor="b"/>
          <a:lstStyle>
            <a:lvl1pPr algn="r">
              <a:defRPr sz="1200"/>
            </a:lvl1pPr>
          </a:lstStyle>
          <a:p>
            <a:fld id="{3566CE92-F6B0-4C8E-B9D0-5A3B1609760F}" type="slidenum">
              <a:rPr lang="en-US" smtClean="0"/>
              <a:t>‹#›</a:t>
            </a:fld>
            <a:endParaRPr lang="en-US"/>
          </a:p>
        </p:txBody>
      </p:sp>
    </p:spTree>
    <p:extLst>
      <p:ext uri="{BB962C8B-B14F-4D97-AF65-F5344CB8AC3E}">
        <p14:creationId xmlns:p14="http://schemas.microsoft.com/office/powerpoint/2010/main" val="2589645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931BFEB-B894-497C-A2B8-288BA9CC8580}" type="slidenum">
              <a:rPr lang="en-US" smtClean="0">
                <a:solidFill>
                  <a:prstClr val="black"/>
                </a:solidFill>
              </a:rPr>
              <a:pPr fontAlgn="base">
                <a:spcBef>
                  <a:spcPct val="0"/>
                </a:spcBef>
                <a:spcAft>
                  <a:spcPct val="0"/>
                </a:spcAft>
                <a:defRPr/>
              </a:pPr>
              <a:t>3</a:t>
            </a:fld>
            <a:endParaRPr lang="en-US">
              <a:solidFill>
                <a:prstClr val="black"/>
              </a:solidFill>
            </a:endParaRPr>
          </a:p>
        </p:txBody>
      </p:sp>
      <p:sp>
        <p:nvSpPr>
          <p:cNvPr id="37891" name="Rectangle 2"/>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p:spPr>
        <p:txBody>
          <a:bodyPr/>
          <a:lstStyle/>
          <a:p>
            <a:endParaRPr lang="en-US"/>
          </a:p>
        </p:txBody>
      </p:sp>
      <p:sp>
        <p:nvSpPr>
          <p:cNvPr id="378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18763415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0201" y="212434"/>
            <a:ext cx="2160901" cy="681153"/>
          </a:xfrm>
          <a:prstGeom prst="rect">
            <a:avLst/>
          </a:prstGeom>
        </p:spPr>
      </p:pic>
      <p:pic>
        <p:nvPicPr>
          <p:cNvPr id="11" name="Picture 10"/>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flipH="1">
            <a:off x="-1" y="1122363"/>
            <a:ext cx="9144000" cy="5221287"/>
          </a:xfrm>
          <a:prstGeom prst="rect">
            <a:avLst/>
          </a:prstGeom>
        </p:spPr>
      </p:pic>
      <p:sp>
        <p:nvSpPr>
          <p:cNvPr id="12" name="TextBox 2"/>
          <p:cNvSpPr txBox="1">
            <a:spLocks noChangeArrowheads="1"/>
          </p:cNvSpPr>
          <p:nvPr userDrawn="1"/>
        </p:nvSpPr>
        <p:spPr bwMode="auto">
          <a:xfrm>
            <a:off x="330201" y="1579914"/>
            <a:ext cx="4777573" cy="2850005"/>
          </a:xfrm>
          <a:prstGeom prst="rect">
            <a:avLst/>
          </a:prstGeom>
          <a:noFill/>
          <a:ln w="9525">
            <a:noFill/>
            <a:miter lim="800000"/>
            <a:headEnd/>
            <a:tailEnd/>
          </a:ln>
        </p:spPr>
        <p:txBody>
          <a:bodyPr wrap="square" lIns="79242" tIns="39621" rIns="79242" bIns="3962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chemeClr val="bg1"/>
                </a:solidFill>
                <a:effectLst/>
                <a:uLnTx/>
                <a:uFillTx/>
                <a:latin typeface="Calibri" panose="020F0502020204030204" pitchFamily="34" charset="0"/>
                <a:cs typeface="Times New Roman" pitchFamily="18" charset="0"/>
              </a:rPr>
              <a:t>Custom Aptamer </a:t>
            </a:r>
            <a:r>
              <a:rPr lang="en-US" sz="3600" b="1" kern="0">
                <a:solidFill>
                  <a:schemeClr val="bg1"/>
                </a:solidFill>
                <a:latin typeface="Calibri" panose="020F0502020204030204" pitchFamily="34" charset="0"/>
                <a:cs typeface="Times New Roman" pitchFamily="18" charset="0"/>
              </a:rPr>
              <a:t>D</a:t>
            </a:r>
            <a:r>
              <a:rPr kumimoji="0" lang="en-US" sz="3600" b="1" i="0" u="none" strike="noStrike" kern="0" cap="none" spc="0" normalizeH="0" baseline="0" noProof="0" err="1">
                <a:ln>
                  <a:noFill/>
                </a:ln>
                <a:solidFill>
                  <a:schemeClr val="bg1"/>
                </a:solidFill>
                <a:effectLst/>
                <a:uLnTx/>
                <a:uFillTx/>
                <a:latin typeface="Calibri" panose="020F0502020204030204" pitchFamily="34" charset="0"/>
                <a:cs typeface="Times New Roman" pitchFamily="18" charset="0"/>
              </a:rPr>
              <a:t>iscovery</a:t>
            </a:r>
            <a:r>
              <a:rPr kumimoji="0" lang="en-US" sz="3600" b="1" i="0" u="none" strike="noStrike" kern="0" cap="none" spc="0" normalizeH="0" baseline="0" noProof="0">
                <a:ln>
                  <a:noFill/>
                </a:ln>
                <a:solidFill>
                  <a:schemeClr val="bg1"/>
                </a:solidFill>
                <a:effectLst/>
                <a:uLnTx/>
                <a:uFillTx/>
                <a:latin typeface="Calibri" panose="020F0502020204030204" pitchFamily="34" charset="0"/>
                <a:cs typeface="Times New Roman" pitchFamily="18" charset="0"/>
              </a:rPr>
              <a:t> and Development</a:t>
            </a:r>
            <a:r>
              <a:rPr kumimoji="0" lang="en-US" sz="3600" b="1" i="0" u="none" strike="noStrike" kern="0" cap="none" spc="0" normalizeH="0" noProof="0">
                <a:ln>
                  <a:noFill/>
                </a:ln>
                <a:solidFill>
                  <a:schemeClr val="bg1"/>
                </a:solidFill>
                <a:effectLst/>
                <a:uLnTx/>
                <a:uFillTx/>
                <a:latin typeface="Calibri" panose="020F0502020204030204" pitchFamily="34" charset="0"/>
                <a:cs typeface="Times New Roman" pitchFamily="18" charset="0"/>
              </a:rPr>
              <a:t> with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noProof="0">
                <a:ln>
                  <a:noFill/>
                </a:ln>
                <a:solidFill>
                  <a:schemeClr val="bg1"/>
                </a:solidFill>
                <a:effectLst/>
                <a:uLnTx/>
                <a:uFillTx/>
                <a:latin typeface="Calibri" panose="020F0502020204030204" pitchFamily="34" charset="0"/>
                <a:cs typeface="Times New Roman" pitchFamily="18" charset="0"/>
              </a:rPr>
              <a:t>Base Pair Biotechnologies</a:t>
            </a:r>
            <a:endParaRPr kumimoji="0" lang="en-US" sz="1050" b="1" i="0" u="none" strike="noStrike" kern="0" cap="none" spc="0" normalizeH="0" baseline="0" noProof="0">
              <a:ln>
                <a:noFill/>
              </a:ln>
              <a:solidFill>
                <a:schemeClr val="bg1"/>
              </a:solidFill>
              <a:effectLst/>
              <a:uLnTx/>
              <a:uFillTx/>
              <a:latin typeface="Calibri" panose="020F0502020204030204" pitchFamily="34" charset="0"/>
              <a:cs typeface="Times New Roman" pitchFamily="18" charset="0"/>
            </a:endParaRPr>
          </a:p>
        </p:txBody>
      </p:sp>
      <p:sp>
        <p:nvSpPr>
          <p:cNvPr id="13" name="TextBox 2"/>
          <p:cNvSpPr txBox="1">
            <a:spLocks noChangeArrowheads="1"/>
          </p:cNvSpPr>
          <p:nvPr userDrawn="1"/>
        </p:nvSpPr>
        <p:spPr bwMode="auto">
          <a:xfrm>
            <a:off x="330201" y="5458655"/>
            <a:ext cx="2565399" cy="695569"/>
          </a:xfrm>
          <a:prstGeom prst="rect">
            <a:avLst/>
          </a:prstGeom>
          <a:noFill/>
          <a:ln w="9525">
            <a:noFill/>
            <a:miter lim="800000"/>
            <a:headEnd/>
            <a:tailEnd/>
          </a:ln>
        </p:spPr>
        <p:txBody>
          <a:bodyPr wrap="square" lIns="79242" tIns="39621" rIns="79242" bIns="3962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1" u="none" strike="noStrike" kern="0" cap="none" spc="0" normalizeH="0" baseline="0" noProof="0">
                <a:ln>
                  <a:noFill/>
                </a:ln>
                <a:solidFill>
                  <a:schemeClr val="bg1"/>
                </a:solidFill>
                <a:effectLst/>
                <a:uLnTx/>
                <a:uFillTx/>
                <a:latin typeface="Calibri" panose="020F0502020204030204" pitchFamily="34" charset="0"/>
                <a:cs typeface="Times New Roman" pitchFamily="18" charset="0"/>
              </a:rPr>
              <a:t>Dr. Bill Jackson</a:t>
            </a:r>
          </a:p>
          <a:p>
            <a:pPr marL="0" marR="0" lvl="0" indent="0" defTabSz="914400" eaLnBrk="1" fontAlgn="auto" latinLnBrk="0" hangingPunct="1">
              <a:lnSpc>
                <a:spcPct val="100000"/>
              </a:lnSpc>
              <a:spcBef>
                <a:spcPts val="0"/>
              </a:spcBef>
              <a:spcAft>
                <a:spcPts val="0"/>
              </a:spcAft>
              <a:buClrTx/>
              <a:buSzTx/>
              <a:buFontTx/>
              <a:buNone/>
              <a:tabLst/>
              <a:defRPr/>
            </a:pPr>
            <a:r>
              <a:rPr lang="en-US" sz="2000" b="1" i="1" kern="0">
                <a:solidFill>
                  <a:schemeClr val="bg1"/>
                </a:solidFill>
                <a:latin typeface="Calibri" panose="020F0502020204030204" pitchFamily="34" charset="0"/>
                <a:cs typeface="Times New Roman" pitchFamily="18" charset="0"/>
              </a:rPr>
              <a:t>June</a:t>
            </a:r>
            <a:r>
              <a:rPr lang="en-US" sz="2000" b="1" i="1" kern="0" baseline="0">
                <a:solidFill>
                  <a:schemeClr val="bg1"/>
                </a:solidFill>
                <a:latin typeface="Calibri" panose="020F0502020204030204" pitchFamily="34" charset="0"/>
                <a:cs typeface="Times New Roman" pitchFamily="18" charset="0"/>
              </a:rPr>
              <a:t> 1</a:t>
            </a:r>
            <a:r>
              <a:rPr lang="en-US" sz="2000" b="1" i="1" kern="0">
                <a:solidFill>
                  <a:schemeClr val="bg1"/>
                </a:solidFill>
                <a:latin typeface="Calibri" panose="020F0502020204030204" pitchFamily="34" charset="0"/>
                <a:cs typeface="Times New Roman" pitchFamily="18" charset="0"/>
              </a:rPr>
              <a:t>, 2017</a:t>
            </a:r>
            <a:endParaRPr kumimoji="0" lang="en-US" sz="700" b="1" i="1" u="none" strike="noStrike" kern="0" cap="none" spc="0" normalizeH="0" baseline="0" noProof="0">
              <a:ln>
                <a:noFill/>
              </a:ln>
              <a:solidFill>
                <a:schemeClr val="bg1"/>
              </a:solidFill>
              <a:effectLst/>
              <a:uLnTx/>
              <a:uFillTx/>
              <a:latin typeface="Calibri" panose="020F0502020204030204" pitchFamily="34" charset="0"/>
              <a:cs typeface="Times New Roman" pitchFamily="18" charset="0"/>
            </a:endParaRPr>
          </a:p>
        </p:txBody>
      </p:sp>
    </p:spTree>
    <p:extLst>
      <p:ext uri="{BB962C8B-B14F-4D97-AF65-F5344CB8AC3E}">
        <p14:creationId xmlns:p14="http://schemas.microsoft.com/office/powerpoint/2010/main" val="2711271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for printin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5931" y="309588"/>
            <a:ext cx="2752709" cy="867701"/>
          </a:xfrm>
          <a:prstGeom prst="rect">
            <a:avLst/>
          </a:prstGeom>
        </p:spPr>
      </p:pic>
      <p:sp>
        <p:nvSpPr>
          <p:cNvPr id="9" name="TextBox 2"/>
          <p:cNvSpPr txBox="1">
            <a:spLocks noChangeArrowheads="1"/>
          </p:cNvSpPr>
          <p:nvPr userDrawn="1"/>
        </p:nvSpPr>
        <p:spPr bwMode="auto">
          <a:xfrm>
            <a:off x="330201" y="5407220"/>
            <a:ext cx="2565399" cy="695569"/>
          </a:xfrm>
          <a:prstGeom prst="rect">
            <a:avLst/>
          </a:prstGeom>
          <a:noFill/>
          <a:ln w="9525">
            <a:noFill/>
            <a:miter lim="800000"/>
            <a:headEnd/>
            <a:tailEnd/>
          </a:ln>
        </p:spPr>
        <p:txBody>
          <a:bodyPr wrap="square" lIns="79242" tIns="39621" rIns="79242" bIns="3962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1" u="none" strike="noStrike" kern="0" cap="none" spc="0" normalizeH="0" baseline="0" noProof="0">
                <a:ln>
                  <a:noFill/>
                </a:ln>
                <a:solidFill>
                  <a:schemeClr val="tx1"/>
                </a:solidFill>
                <a:effectLst/>
                <a:uLnTx/>
                <a:uFillTx/>
                <a:latin typeface="Calibri" panose="020F0502020204030204" pitchFamily="34" charset="0"/>
                <a:cs typeface="Times New Roman" pitchFamily="18" charset="0"/>
              </a:rPr>
              <a:t>Dr. Bill Jackson</a:t>
            </a:r>
          </a:p>
          <a:p>
            <a:pPr marL="0" marR="0" lvl="0" indent="0" defTabSz="914400" eaLnBrk="1" fontAlgn="auto" latinLnBrk="0" hangingPunct="1">
              <a:lnSpc>
                <a:spcPct val="100000"/>
              </a:lnSpc>
              <a:spcBef>
                <a:spcPts val="0"/>
              </a:spcBef>
              <a:spcAft>
                <a:spcPts val="0"/>
              </a:spcAft>
              <a:buClrTx/>
              <a:buSzTx/>
              <a:buFontTx/>
              <a:buNone/>
              <a:tabLst/>
              <a:defRPr/>
            </a:pPr>
            <a:r>
              <a:rPr lang="en-US" sz="2000" b="1" i="1" kern="0">
                <a:solidFill>
                  <a:schemeClr val="tx1"/>
                </a:solidFill>
                <a:latin typeface="Calibri" panose="020F0502020204030204" pitchFamily="34" charset="0"/>
                <a:cs typeface="Times New Roman" pitchFamily="18" charset="0"/>
              </a:rPr>
              <a:t>April 17, 2017</a:t>
            </a:r>
            <a:endParaRPr kumimoji="0" lang="en-US" sz="700" b="1" i="1" u="none" strike="noStrike" kern="0" cap="none" spc="0" normalizeH="0" baseline="0" noProof="0">
              <a:ln>
                <a:noFill/>
              </a:ln>
              <a:solidFill>
                <a:schemeClr val="tx1"/>
              </a:solidFill>
              <a:effectLst/>
              <a:uLnTx/>
              <a:uFillTx/>
              <a:latin typeface="Calibri" panose="020F0502020204030204" pitchFamily="34" charset="0"/>
              <a:cs typeface="Times New Roman" pitchFamily="18" charset="0"/>
            </a:endParaRPr>
          </a:p>
        </p:txBody>
      </p:sp>
      <p:pic>
        <p:nvPicPr>
          <p:cNvPr id="2" name="Picture 1"/>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623435" y="2143125"/>
            <a:ext cx="4057650" cy="4761425"/>
          </a:xfrm>
          <a:prstGeom prst="rect">
            <a:avLst/>
          </a:prstGeom>
        </p:spPr>
      </p:pic>
      <p:sp>
        <p:nvSpPr>
          <p:cNvPr id="6" name="TextBox 2"/>
          <p:cNvSpPr txBox="1">
            <a:spLocks noChangeArrowheads="1"/>
          </p:cNvSpPr>
          <p:nvPr userDrawn="1"/>
        </p:nvSpPr>
        <p:spPr bwMode="auto">
          <a:xfrm>
            <a:off x="330201" y="1867252"/>
            <a:ext cx="4777573" cy="2850005"/>
          </a:xfrm>
          <a:prstGeom prst="rect">
            <a:avLst/>
          </a:prstGeom>
          <a:noFill/>
          <a:ln w="9525">
            <a:noFill/>
            <a:miter lim="800000"/>
            <a:headEnd/>
            <a:tailEnd/>
          </a:ln>
        </p:spPr>
        <p:txBody>
          <a:bodyPr wrap="square" lIns="79242" tIns="39621" rIns="79242" bIns="3962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chemeClr val="tx1"/>
                </a:solidFill>
                <a:effectLst/>
                <a:uLnTx/>
                <a:uFillTx/>
                <a:latin typeface="Calibri" panose="020F0502020204030204" pitchFamily="34" charset="0"/>
                <a:cs typeface="Times New Roman" pitchFamily="18" charset="0"/>
              </a:rPr>
              <a:t>Custom Aptamer </a:t>
            </a:r>
            <a:r>
              <a:rPr lang="en-US" sz="3600" b="1" kern="0">
                <a:solidFill>
                  <a:schemeClr val="tx1"/>
                </a:solidFill>
                <a:latin typeface="Calibri" panose="020F0502020204030204" pitchFamily="34" charset="0"/>
                <a:cs typeface="Times New Roman" pitchFamily="18" charset="0"/>
              </a:rPr>
              <a:t>D</a:t>
            </a:r>
            <a:r>
              <a:rPr kumimoji="0" lang="en-US" sz="3600" b="1" i="0" u="none" strike="noStrike" kern="0" cap="none" spc="0" normalizeH="0" baseline="0" noProof="0" err="1">
                <a:ln>
                  <a:noFill/>
                </a:ln>
                <a:solidFill>
                  <a:schemeClr val="tx1"/>
                </a:solidFill>
                <a:effectLst/>
                <a:uLnTx/>
                <a:uFillTx/>
                <a:latin typeface="Calibri" panose="020F0502020204030204" pitchFamily="34" charset="0"/>
                <a:cs typeface="Times New Roman" pitchFamily="18" charset="0"/>
              </a:rPr>
              <a:t>iscovery</a:t>
            </a:r>
            <a:r>
              <a:rPr kumimoji="0" lang="en-US" sz="3600" b="1" i="0" u="none" strike="noStrike" kern="0" cap="none" spc="0" normalizeH="0" baseline="0" noProof="0">
                <a:ln>
                  <a:noFill/>
                </a:ln>
                <a:solidFill>
                  <a:schemeClr val="tx1"/>
                </a:solidFill>
                <a:effectLst/>
                <a:uLnTx/>
                <a:uFillTx/>
                <a:latin typeface="Calibri" panose="020F0502020204030204" pitchFamily="34" charset="0"/>
                <a:cs typeface="Times New Roman" pitchFamily="18" charset="0"/>
              </a:rPr>
              <a:t> and Development</a:t>
            </a:r>
            <a:r>
              <a:rPr kumimoji="0" lang="en-US" sz="3600" b="1" i="0" u="none" strike="noStrike" kern="0" cap="none" spc="0" normalizeH="0" noProof="0">
                <a:ln>
                  <a:noFill/>
                </a:ln>
                <a:solidFill>
                  <a:schemeClr val="tx1"/>
                </a:solidFill>
                <a:effectLst/>
                <a:uLnTx/>
                <a:uFillTx/>
                <a:latin typeface="Calibri" panose="020F0502020204030204" pitchFamily="34" charset="0"/>
                <a:cs typeface="Times New Roman" pitchFamily="18" charset="0"/>
              </a:rPr>
              <a:t> with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noProof="0">
                <a:ln>
                  <a:noFill/>
                </a:ln>
                <a:solidFill>
                  <a:schemeClr val="tx1"/>
                </a:solidFill>
                <a:effectLst/>
                <a:uLnTx/>
                <a:uFillTx/>
                <a:latin typeface="Calibri" panose="020F0502020204030204" pitchFamily="34" charset="0"/>
                <a:cs typeface="Times New Roman" pitchFamily="18" charset="0"/>
              </a:rPr>
              <a:t>Base Pair Biotechnologies</a:t>
            </a:r>
            <a:endParaRPr kumimoji="0" lang="en-US" sz="1050" b="1" i="0" u="none" strike="noStrike" kern="0" cap="none" spc="0" normalizeH="0" baseline="0" noProof="0">
              <a:ln>
                <a:noFill/>
              </a:ln>
              <a:solidFill>
                <a:schemeClr val="tx1"/>
              </a:solidFill>
              <a:effectLst/>
              <a:uLnTx/>
              <a:uFillTx/>
              <a:latin typeface="Calibri" panose="020F0502020204030204" pitchFamily="34" charset="0"/>
              <a:cs typeface="Times New Roman" pitchFamily="18" charset="0"/>
            </a:endParaRPr>
          </a:p>
        </p:txBody>
      </p:sp>
    </p:spTree>
    <p:extLst>
      <p:ext uri="{BB962C8B-B14F-4D97-AF65-F5344CB8AC3E}">
        <p14:creationId xmlns:p14="http://schemas.microsoft.com/office/powerpoint/2010/main" val="711718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15" name="TextBox 14"/>
          <p:cNvSpPr txBox="1"/>
          <p:nvPr userDrawn="1"/>
        </p:nvSpPr>
        <p:spPr>
          <a:xfrm>
            <a:off x="5368699" y="6419211"/>
            <a:ext cx="3112361" cy="261610"/>
          </a:xfrm>
          <a:prstGeom prst="rect">
            <a:avLst/>
          </a:prstGeom>
          <a:noFill/>
        </p:spPr>
        <p:txBody>
          <a:bodyPr wrap="square" rtlCol="0">
            <a:spAutoFit/>
          </a:bodyPr>
          <a:lstStyle/>
          <a:p>
            <a:pPr algn="ctr"/>
            <a:r>
              <a:rPr lang="en-US" sz="1100" b="0">
                <a:solidFill>
                  <a:schemeClr val="bg1">
                    <a:lumMod val="50000"/>
                  </a:schemeClr>
                </a:solidFill>
                <a:latin typeface="Calibri"/>
              </a:rPr>
              <a:t>www.basepairbio.com</a:t>
            </a:r>
          </a:p>
        </p:txBody>
      </p:sp>
      <p:sp>
        <p:nvSpPr>
          <p:cNvPr id="18" name="TextBox 17"/>
          <p:cNvSpPr txBox="1"/>
          <p:nvPr userDrawn="1"/>
        </p:nvSpPr>
        <p:spPr>
          <a:xfrm>
            <a:off x="2543584" y="6419211"/>
            <a:ext cx="3112361" cy="261610"/>
          </a:xfrm>
          <a:prstGeom prst="rect">
            <a:avLst/>
          </a:prstGeom>
          <a:noFill/>
        </p:spPr>
        <p:txBody>
          <a:bodyPr wrap="square" rtlCol="0">
            <a:spAutoFit/>
          </a:bodyPr>
          <a:lstStyle/>
          <a:p>
            <a:pPr algn="ctr"/>
            <a:r>
              <a:rPr lang="en-US" sz="1100" b="0" i="1">
                <a:solidFill>
                  <a:schemeClr val="bg1">
                    <a:lumMod val="50000"/>
                  </a:schemeClr>
                </a:solidFill>
                <a:latin typeface="Calibri"/>
              </a:rPr>
              <a:t>The</a:t>
            </a:r>
            <a:r>
              <a:rPr lang="en-US" sz="1100" b="0" i="1" baseline="0">
                <a:solidFill>
                  <a:schemeClr val="bg1">
                    <a:lumMod val="50000"/>
                  </a:schemeClr>
                </a:solidFill>
                <a:latin typeface="Calibri"/>
              </a:rPr>
              <a:t> Aptamer Discovery </a:t>
            </a:r>
            <a:r>
              <a:rPr lang="en-US" sz="1100" b="0" i="1" baseline="0" err="1">
                <a:solidFill>
                  <a:schemeClr val="bg1">
                    <a:lumMod val="50000"/>
                  </a:schemeClr>
                </a:solidFill>
                <a:latin typeface="Calibri"/>
              </a:rPr>
              <a:t>Company</a:t>
            </a:r>
            <a:r>
              <a:rPr lang="en-US" sz="1100" b="0" i="1" baseline="30000" err="1">
                <a:solidFill>
                  <a:schemeClr val="bg1">
                    <a:lumMod val="50000"/>
                  </a:schemeClr>
                </a:solidFill>
                <a:latin typeface="Calibri"/>
              </a:rPr>
              <a:t>TM</a:t>
            </a:r>
            <a:endParaRPr lang="en-US" sz="1100" b="0" i="1" baseline="30000">
              <a:solidFill>
                <a:schemeClr val="bg1">
                  <a:lumMod val="50000"/>
                </a:schemeClr>
              </a:solidFill>
              <a:latin typeface="Calibri"/>
            </a:endParaRPr>
          </a:p>
        </p:txBody>
      </p:sp>
      <p:sp>
        <p:nvSpPr>
          <p:cNvPr id="19" name="Slide Number Placeholder 7"/>
          <p:cNvSpPr txBox="1">
            <a:spLocks/>
          </p:cNvSpPr>
          <p:nvPr userDrawn="1"/>
        </p:nvSpPr>
        <p:spPr>
          <a:xfrm>
            <a:off x="8349614" y="6419211"/>
            <a:ext cx="613205"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4006475-232E-4633-B7F5-69B7F48E5270}" type="slidenum">
              <a:rPr lang="en-US" sz="1100" smtClean="0">
                <a:solidFill>
                  <a:srgbClr val="898989"/>
                </a:solidFill>
              </a:rPr>
              <a:pPr/>
              <a:t>‹#›</a:t>
            </a:fld>
            <a:endParaRPr lang="en-US" sz="1100">
              <a:solidFill>
                <a:srgbClr val="898989"/>
              </a:solidFill>
            </a:endParaRP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425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1"/>
          <p:cNvSpPr>
            <a:spLocks noGrp="1"/>
          </p:cNvSpPr>
          <p:nvPr>
            <p:ph type="title"/>
          </p:nvPr>
        </p:nvSpPr>
        <p:spPr>
          <a:xfrm>
            <a:off x="228600" y="313664"/>
            <a:ext cx="5791200" cy="685800"/>
          </a:xfrm>
          <a:prstGeom prst="rect">
            <a:avLst/>
          </a:prstGeom>
        </p:spPr>
        <p:txBody>
          <a:bodyPr>
            <a:normAutofit/>
          </a:bodyPr>
          <a:lstStyle>
            <a:lvl1pPr algn="l">
              <a:defRPr sz="2450" b="1">
                <a:solidFill>
                  <a:srgbClr val="256800"/>
                </a:solidFill>
              </a:defRPr>
            </a:lvl1pPr>
          </a:lstStyle>
          <a:p>
            <a:r>
              <a:rPr lang="en-US"/>
              <a:t>Click to edit Master title style</a:t>
            </a:r>
          </a:p>
        </p:txBody>
      </p:sp>
      <p:sp>
        <p:nvSpPr>
          <p:cNvPr id="4" name="Slide Number Placeholder 1"/>
          <p:cNvSpPr>
            <a:spLocks noGrp="1"/>
          </p:cNvSpPr>
          <p:nvPr>
            <p:ph type="sldNum" sz="quarter" idx="10"/>
          </p:nvPr>
        </p:nvSpPr>
        <p:spPr>
          <a:xfrm>
            <a:off x="8529637" y="6357939"/>
            <a:ext cx="514349" cy="365125"/>
          </a:xfrm>
          <a:prstGeom prst="rect">
            <a:avLst/>
          </a:prstGeom>
        </p:spPr>
        <p:txBody>
          <a:bodyPr/>
          <a:lstStyle/>
          <a:p>
            <a:fld id="{B2A8A024-7FA9-44CB-9E5D-E14EA791726A}" type="slidenum">
              <a:rPr lang="en-US" smtClean="0">
                <a:solidFill>
                  <a:prstClr val="black">
                    <a:tint val="75000"/>
                  </a:prstClr>
                </a:solidFill>
              </a:rPr>
              <a:pPr/>
              <a:t>‹#›</a:t>
            </a:fld>
            <a:endParaRPr lang="en-US">
              <a:solidFill>
                <a:prstClr val="black">
                  <a:tint val="75000"/>
                </a:prstClr>
              </a:solidFill>
            </a:endParaRPr>
          </a:p>
        </p:txBody>
      </p:sp>
      <p:sp>
        <p:nvSpPr>
          <p:cNvPr id="5" name="TextBox 4"/>
          <p:cNvSpPr txBox="1"/>
          <p:nvPr userDrawn="1"/>
        </p:nvSpPr>
        <p:spPr>
          <a:xfrm>
            <a:off x="6425657" y="6399899"/>
            <a:ext cx="1676382" cy="323165"/>
          </a:xfrm>
          <a:prstGeom prst="rect">
            <a:avLst/>
          </a:prstGeom>
          <a:noFill/>
        </p:spPr>
        <p:txBody>
          <a:bodyPr wrap="square" rtlCol="0">
            <a:spAutoFit/>
          </a:bodyPr>
          <a:lstStyle/>
          <a:p>
            <a:r>
              <a:rPr lang="en-US" sz="1500" b="1">
                <a:solidFill>
                  <a:srgbClr val="FF0000"/>
                </a:solidFill>
              </a:rPr>
              <a:t>CONFIDENTIAL</a:t>
            </a:r>
          </a:p>
        </p:txBody>
      </p:sp>
    </p:spTree>
    <p:extLst>
      <p:ext uri="{BB962C8B-B14F-4D97-AF65-F5344CB8AC3E}">
        <p14:creationId xmlns:p14="http://schemas.microsoft.com/office/powerpoint/2010/main" val="9696123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300" y="132934"/>
            <a:ext cx="7155180" cy="86931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86475" y="6419214"/>
            <a:ext cx="24288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baseline="30000"/>
          </a:p>
        </p:txBody>
      </p:sp>
      <p:sp>
        <p:nvSpPr>
          <p:cNvPr id="5" name="Footer Placeholder 4"/>
          <p:cNvSpPr>
            <a:spLocks noGrp="1"/>
          </p:cNvSpPr>
          <p:nvPr>
            <p:ph type="ftr" sz="quarter" idx="3"/>
          </p:nvPr>
        </p:nvSpPr>
        <p:spPr>
          <a:xfrm>
            <a:off x="2406015" y="6419214"/>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5351" y="6419215"/>
            <a:ext cx="42862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006475-232E-4633-B7F5-69B7F48E5270}" type="slidenum">
              <a:rPr lang="en-US" smtClean="0"/>
              <a:t>‹#›</a:t>
            </a:fld>
            <a:endParaRPr lang="en-US"/>
          </a:p>
        </p:txBody>
      </p:sp>
      <p:pic>
        <p:nvPicPr>
          <p:cNvPr id="11" name="Picture 10"/>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232727" y="6327195"/>
            <a:ext cx="1323340" cy="417139"/>
          </a:xfrm>
          <a:prstGeom prst="rect">
            <a:avLst/>
          </a:prstGeom>
        </p:spPr>
      </p:pic>
      <p:cxnSp>
        <p:nvCxnSpPr>
          <p:cNvPr id="13" name="Straight Connector 12"/>
          <p:cNvCxnSpPr/>
          <p:nvPr userDrawn="1"/>
        </p:nvCxnSpPr>
        <p:spPr>
          <a:xfrm>
            <a:off x="0" y="980544"/>
            <a:ext cx="9144000" cy="7286"/>
          </a:xfrm>
          <a:prstGeom prst="line">
            <a:avLst/>
          </a:prstGeom>
          <a:ln w="635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1" y="6149943"/>
            <a:ext cx="9144000" cy="7286"/>
          </a:xfrm>
          <a:prstGeom prst="line">
            <a:avLst/>
          </a:prstGeom>
          <a:ln w="635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415477"/>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77" r:id="rId3"/>
    <p:sldLayoutId id="2147483680" r:id="rId4"/>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565785" y="1842453"/>
            <a:ext cx="7772400" cy="2387600"/>
          </a:xfrm>
        </p:spPr>
        <p:txBody>
          <a:bodyPr/>
          <a:lstStyle/>
          <a:p>
            <a:r>
              <a:rPr lang="en-US"/>
              <a:t>Overview Technology</a:t>
            </a:r>
            <a:br>
              <a:rPr lang="en-US"/>
            </a:br>
            <a:endParaRPr lang="en-US"/>
          </a:p>
        </p:txBody>
      </p:sp>
      <p:pic>
        <p:nvPicPr>
          <p:cNvPr id="4" name="Picture 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a:off x="0" y="1111972"/>
            <a:ext cx="9144000" cy="5221287"/>
          </a:xfrm>
          <a:prstGeom prst="rect">
            <a:avLst/>
          </a:prstGeom>
        </p:spPr>
      </p:pic>
      <p:sp>
        <p:nvSpPr>
          <p:cNvPr id="6" name="TextBox 2"/>
          <p:cNvSpPr txBox="1">
            <a:spLocks noChangeArrowheads="1"/>
          </p:cNvSpPr>
          <p:nvPr/>
        </p:nvSpPr>
        <p:spPr bwMode="auto">
          <a:xfrm>
            <a:off x="362900" y="1625435"/>
            <a:ext cx="4801381" cy="2542228"/>
          </a:xfrm>
          <a:prstGeom prst="rect">
            <a:avLst/>
          </a:prstGeom>
          <a:noFill/>
          <a:ln w="9525">
            <a:noFill/>
            <a:miter lim="800000"/>
            <a:headEnd/>
            <a:tailEnd/>
          </a:ln>
        </p:spPr>
        <p:txBody>
          <a:bodyPr wrap="square" lIns="79242" tIns="39621" rIns="79242" bIns="39621">
            <a:spAutoFit/>
          </a:bodyPr>
          <a:lstStyle/>
          <a:p>
            <a:pPr lvl="0" defTabSz="914400">
              <a:defRPr/>
            </a:pPr>
            <a:r>
              <a:rPr lang="en-US" sz="2800" b="1" kern="0" dirty="0">
                <a:solidFill>
                  <a:schemeClr val="bg1"/>
                </a:solidFill>
                <a:latin typeface="Calibri" panose="020F0502020204030204" pitchFamily="34" charset="0"/>
                <a:cs typeface="Times New Roman" pitchFamily="18" charset="0"/>
              </a:rPr>
              <a:t>Confidential Proposal to UMass Boston for a </a:t>
            </a:r>
            <a:r>
              <a:rPr lang="en-US" sz="2800" b="1" kern="0" dirty="0">
                <a:solidFill>
                  <a:srgbClr val="FFC000"/>
                </a:solidFill>
                <a:latin typeface="Calibri" panose="020F0502020204030204" pitchFamily="34" charset="0"/>
                <a:cs typeface="Times New Roman" pitchFamily="18" charset="0"/>
              </a:rPr>
              <a:t>Urinary Collagen Aptamer Diagnostic</a:t>
            </a:r>
          </a:p>
          <a:p>
            <a:pPr lvl="0" defTabSz="914400">
              <a:defRPr/>
            </a:pPr>
            <a:endParaRPr lang="en-US" sz="2800" b="1" kern="0" dirty="0">
              <a:solidFill>
                <a:srgbClr val="FFC000"/>
              </a:solidFill>
              <a:latin typeface="Calibri" panose="020F0502020204030204" pitchFamily="34" charset="0"/>
              <a:cs typeface="Times New Roman" pitchFamily="18" charset="0"/>
            </a:endParaRPr>
          </a:p>
          <a:p>
            <a:pPr lvl="0" defTabSz="914400">
              <a:defRPr/>
            </a:pPr>
            <a:r>
              <a:rPr lang="en-US" sz="2400" b="1" kern="0" dirty="0">
                <a:solidFill>
                  <a:srgbClr val="FFC000"/>
                </a:solidFill>
                <a:latin typeface="Calibri" panose="020F0502020204030204" pitchFamily="34" charset="0"/>
                <a:cs typeface="Times New Roman" pitchFamily="18" charset="0"/>
              </a:rPr>
              <a:t>(Phase I – understanding existing aptamer suitability in urine)</a:t>
            </a:r>
          </a:p>
        </p:txBody>
      </p:sp>
      <p:sp>
        <p:nvSpPr>
          <p:cNvPr id="8" name="TextBox 2"/>
          <p:cNvSpPr txBox="1">
            <a:spLocks noChangeArrowheads="1"/>
          </p:cNvSpPr>
          <p:nvPr/>
        </p:nvSpPr>
        <p:spPr bwMode="auto">
          <a:xfrm>
            <a:off x="362901" y="5194424"/>
            <a:ext cx="2857616" cy="449348"/>
          </a:xfrm>
          <a:prstGeom prst="rect">
            <a:avLst/>
          </a:prstGeom>
          <a:noFill/>
          <a:ln w="9525">
            <a:noFill/>
            <a:miter lim="800000"/>
            <a:headEnd/>
            <a:tailEnd/>
          </a:ln>
        </p:spPr>
        <p:txBody>
          <a:bodyPr wrap="square" lIns="79242" tIns="39621" rIns="79242" bIns="3962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b="1" i="1" kern="0" dirty="0">
                <a:solidFill>
                  <a:schemeClr val="bg1"/>
                </a:solidFill>
                <a:latin typeface="Calibri" panose="020F0502020204030204" pitchFamily="34" charset="0"/>
                <a:cs typeface="Times New Roman" pitchFamily="18" charset="0"/>
              </a:rPr>
              <a:t>May 29</a:t>
            </a:r>
            <a:r>
              <a:rPr kumimoji="0" lang="en-US" sz="2400" b="1" i="1" u="none" strike="noStrike" kern="0" cap="none" spc="0" normalizeH="0" baseline="0" noProof="0" dirty="0">
                <a:ln>
                  <a:noFill/>
                </a:ln>
                <a:solidFill>
                  <a:schemeClr val="bg1"/>
                </a:solidFill>
                <a:effectLst/>
                <a:uLnTx/>
                <a:uFillTx/>
                <a:latin typeface="Calibri" panose="020F0502020204030204" pitchFamily="34" charset="0"/>
                <a:cs typeface="Times New Roman" pitchFamily="18" charset="0"/>
              </a:rPr>
              <a:t>, 2026</a:t>
            </a:r>
          </a:p>
        </p:txBody>
      </p:sp>
    </p:spTree>
    <p:extLst>
      <p:ext uri="{BB962C8B-B14F-4D97-AF65-F5344CB8AC3E}">
        <p14:creationId xmlns:p14="http://schemas.microsoft.com/office/powerpoint/2010/main" val="2827587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960"/>
            <a:ext cx="5791200" cy="685800"/>
          </a:xfrm>
        </p:spPr>
        <p:txBody>
          <a:bodyPr/>
          <a:lstStyle/>
          <a:p>
            <a:r>
              <a:rPr lang="en-US" sz="3200"/>
              <a:t>Technology</a:t>
            </a:r>
            <a:r>
              <a:rPr lang="en-US"/>
              <a:t> </a:t>
            </a:r>
            <a:r>
              <a:rPr lang="en-US" sz="3200"/>
              <a:t>Overview</a:t>
            </a:r>
          </a:p>
        </p:txBody>
      </p:sp>
      <p:sp>
        <p:nvSpPr>
          <p:cNvPr id="3" name="Slide Number Placeholder 2"/>
          <p:cNvSpPr>
            <a:spLocks noGrp="1"/>
          </p:cNvSpPr>
          <p:nvPr>
            <p:ph type="sldNum" sz="quarter" idx="10"/>
          </p:nvPr>
        </p:nvSpPr>
        <p:spPr/>
        <p:txBody>
          <a:bodyPr/>
          <a:lstStyle/>
          <a:p>
            <a:fld id="{B2A8A024-7FA9-44CB-9E5D-E14EA791726A}" type="slidenum">
              <a:rPr lang="en-US" smtClean="0">
                <a:solidFill>
                  <a:prstClr val="black">
                    <a:tint val="75000"/>
                  </a:prstClr>
                </a:solidFill>
              </a:rPr>
              <a:pPr/>
              <a:t>2</a:t>
            </a:fld>
            <a:endParaRPr lang="en-US">
              <a:solidFill>
                <a:prstClr val="black">
                  <a:tint val="75000"/>
                </a:prstClr>
              </a:solidFill>
            </a:endParaRPr>
          </a:p>
        </p:txBody>
      </p:sp>
      <p:sp>
        <p:nvSpPr>
          <p:cNvPr id="4" name="Rectangle 3"/>
          <p:cNvSpPr txBox="1">
            <a:spLocks noChangeArrowheads="1"/>
          </p:cNvSpPr>
          <p:nvPr/>
        </p:nvSpPr>
        <p:spPr>
          <a:xfrm>
            <a:off x="5188256" y="4134497"/>
            <a:ext cx="3754408" cy="1847830"/>
          </a:xfrm>
          <a:prstGeom prst="rect">
            <a:avLst/>
          </a:prstGeom>
          <a:solidFill>
            <a:schemeClr val="bg2">
              <a:alpha val="48000"/>
            </a:schemeClr>
          </a:solidFill>
          <a:ln>
            <a:solidFill>
              <a:schemeClr val="tx1"/>
            </a:solidFill>
          </a:ln>
        </p:spPr>
        <p:txBody>
          <a:bodyPr>
            <a:noAutofit/>
          </a:bodyPr>
          <a:lstStyle>
            <a:lvl1pPr marL="1440180" indent="-1440180" algn="l" defTabSz="3840480" rtl="0" eaLnBrk="1" latinLnBrk="0" hangingPunct="1">
              <a:spcBef>
                <a:spcPct val="20000"/>
              </a:spcBef>
              <a:buFont typeface="Arial" pitchFamily="34" charset="0"/>
              <a:buChar char="•"/>
              <a:defRPr sz="13440" kern="1200">
                <a:solidFill>
                  <a:schemeClr val="tx1"/>
                </a:solidFill>
                <a:latin typeface="+mn-lt"/>
                <a:ea typeface="+mn-ea"/>
                <a:cs typeface="+mn-cs"/>
              </a:defRPr>
            </a:lvl1pPr>
            <a:lvl2pPr marL="3120390" indent="-1200150" algn="l" defTabSz="3840480" rtl="0" eaLnBrk="1" latinLnBrk="0" hangingPunct="1">
              <a:spcBef>
                <a:spcPct val="20000"/>
              </a:spcBef>
              <a:buFont typeface="Arial" pitchFamily="34" charset="0"/>
              <a:buChar char="–"/>
              <a:defRPr sz="11760" kern="1200">
                <a:solidFill>
                  <a:schemeClr val="tx1"/>
                </a:solidFill>
                <a:latin typeface="+mn-lt"/>
                <a:ea typeface="+mn-ea"/>
                <a:cs typeface="+mn-cs"/>
              </a:defRPr>
            </a:lvl2pPr>
            <a:lvl3pPr marL="4800600" indent="-960120" algn="l" defTabSz="3840480" rtl="0" eaLnBrk="1" latinLnBrk="0" hangingPunct="1">
              <a:spcBef>
                <a:spcPct val="20000"/>
              </a:spcBef>
              <a:buFont typeface="Arial" pitchFamily="34" charset="0"/>
              <a:buChar char="•"/>
              <a:defRPr sz="10080" kern="1200">
                <a:solidFill>
                  <a:schemeClr val="tx1"/>
                </a:solidFill>
                <a:latin typeface="+mn-lt"/>
                <a:ea typeface="+mn-ea"/>
                <a:cs typeface="+mn-cs"/>
              </a:defRPr>
            </a:lvl3pPr>
            <a:lvl4pPr marL="672084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4pPr>
            <a:lvl5pPr marL="864108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5pPr>
            <a:lvl6pPr marL="1056132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156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180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204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9pPr>
          </a:lstStyle>
          <a:p>
            <a:pPr marL="0" indent="0">
              <a:spcBef>
                <a:spcPts val="0"/>
              </a:spcBef>
              <a:buClr>
                <a:schemeClr val="tx1"/>
              </a:buClr>
              <a:buNone/>
            </a:pPr>
            <a:r>
              <a:rPr lang="en-US" sz="917" b="1" u="sng">
                <a:latin typeface="Calibri" pitchFamily="34" charset="0"/>
                <a:ea typeface="SimSun" pitchFamily="2" charset="-122"/>
              </a:rPr>
              <a:t>Advantages of Aptamers</a:t>
            </a:r>
          </a:p>
          <a:p>
            <a:pPr marL="0" indent="-159994">
              <a:spcBef>
                <a:spcPts val="0"/>
              </a:spcBef>
              <a:buClr>
                <a:schemeClr val="tx1"/>
              </a:buClr>
            </a:pPr>
            <a:r>
              <a:rPr lang="en-US" sz="917" b="1">
                <a:latin typeface="Calibri" pitchFamily="34" charset="0"/>
                <a:ea typeface="SimSun" pitchFamily="2" charset="-122"/>
              </a:rPr>
              <a:t>Low cost</a:t>
            </a:r>
            <a:r>
              <a:rPr lang="en-US" sz="917">
                <a:latin typeface="Calibri" pitchFamily="34" charset="0"/>
                <a:ea typeface="SimSun" pitchFamily="2" charset="-122"/>
              </a:rPr>
              <a:t>:  chemical synthesis based manufacture</a:t>
            </a:r>
          </a:p>
          <a:p>
            <a:pPr marL="0" indent="-159994">
              <a:spcBef>
                <a:spcPts val="0"/>
              </a:spcBef>
              <a:buClr>
                <a:schemeClr val="tx1"/>
              </a:buClr>
            </a:pPr>
            <a:r>
              <a:rPr lang="en-US" sz="917" b="1">
                <a:latin typeface="Calibri" pitchFamily="34" charset="0"/>
                <a:ea typeface="SimSun" pitchFamily="2" charset="-122"/>
              </a:rPr>
              <a:t>No organisms involved</a:t>
            </a:r>
            <a:r>
              <a:rPr lang="en-US" sz="917">
                <a:latin typeface="Calibri" pitchFamily="34" charset="0"/>
                <a:ea typeface="SimSun" pitchFamily="2" charset="-122"/>
              </a:rPr>
              <a:t>:  straightforward regulatory path</a:t>
            </a:r>
            <a:endParaRPr lang="en-US" sz="917" b="1">
              <a:latin typeface="Calibri" pitchFamily="34" charset="0"/>
              <a:ea typeface="SimSun" pitchFamily="2" charset="-122"/>
            </a:endParaRPr>
          </a:p>
          <a:p>
            <a:pPr marL="0" indent="-159994">
              <a:spcBef>
                <a:spcPts val="0"/>
              </a:spcBef>
              <a:buClr>
                <a:schemeClr val="tx1"/>
              </a:buClr>
            </a:pPr>
            <a:r>
              <a:rPr lang="en-US" sz="917" b="1">
                <a:latin typeface="Calibri" pitchFamily="34" charset="0"/>
                <a:ea typeface="SimSun" pitchFamily="2" charset="-122"/>
              </a:rPr>
              <a:t>Versatile</a:t>
            </a:r>
            <a:r>
              <a:rPr lang="en-US" sz="917">
                <a:latin typeface="Calibri" pitchFamily="34" charset="0"/>
                <a:ea typeface="SimSun" pitchFamily="2" charset="-122"/>
              </a:rPr>
              <a:t>:  non-immunogenic and toxic targets can be used; selection can take place under final assay conditions, including various sample types, binding inhibitors, etc.</a:t>
            </a:r>
          </a:p>
          <a:p>
            <a:pPr marL="0" indent="167322">
              <a:spcBef>
                <a:spcPts val="0"/>
              </a:spcBef>
              <a:buClr>
                <a:schemeClr val="tx1"/>
              </a:buClr>
            </a:pPr>
            <a:r>
              <a:rPr lang="en-US" sz="917" b="1">
                <a:latin typeface="Calibri" pitchFamily="34" charset="0"/>
                <a:ea typeface="SimSun" pitchFamily="2" charset="-122"/>
              </a:rPr>
              <a:t>Customizable</a:t>
            </a:r>
            <a:r>
              <a:rPr lang="en-US" sz="917">
                <a:latin typeface="Calibri" pitchFamily="34" charset="0"/>
                <a:ea typeface="SimSun" pitchFamily="2" charset="-122"/>
              </a:rPr>
              <a:t>:  Easily conjugated to haptens, fluorophores, chromophores, enzymes, beads; readily modified to adjust affinity/avidity, stability, solubility, etc.</a:t>
            </a:r>
          </a:p>
          <a:p>
            <a:pPr marL="0" indent="-159994">
              <a:spcBef>
                <a:spcPts val="0"/>
              </a:spcBef>
              <a:buClr>
                <a:schemeClr val="tx1"/>
              </a:buClr>
            </a:pPr>
            <a:r>
              <a:rPr lang="en-US" sz="917" b="1">
                <a:latin typeface="Calibri" pitchFamily="34" charset="0"/>
                <a:ea typeface="SimSun" pitchFamily="2" charset="-122"/>
              </a:rPr>
              <a:t>Small</a:t>
            </a:r>
            <a:r>
              <a:rPr lang="en-US" sz="917">
                <a:latin typeface="Calibri" pitchFamily="34" charset="0"/>
                <a:ea typeface="SimSun" pitchFamily="2" charset="-122"/>
              </a:rPr>
              <a:t>:  can penetrate tissues, cells and other matrices, minimal steric hindrance, more moles/gram than antibodies</a:t>
            </a:r>
          </a:p>
          <a:p>
            <a:pPr marL="0" indent="-159994">
              <a:spcBef>
                <a:spcPts val="0"/>
              </a:spcBef>
              <a:buClr>
                <a:schemeClr val="tx1"/>
              </a:buClr>
            </a:pPr>
            <a:r>
              <a:rPr lang="en-US" sz="917" b="1">
                <a:latin typeface="Calibri" pitchFamily="34" charset="0"/>
                <a:ea typeface="SimSun" pitchFamily="2" charset="-122"/>
              </a:rPr>
              <a:t>Stable</a:t>
            </a:r>
            <a:r>
              <a:rPr lang="en-US" sz="917">
                <a:latin typeface="Calibri" pitchFamily="34" charset="0"/>
                <a:ea typeface="SimSun" pitchFamily="2" charset="-122"/>
              </a:rPr>
              <a:t>:  no cold chain required, highly soluble, denaturing is readily reversible</a:t>
            </a:r>
          </a:p>
        </p:txBody>
      </p:sp>
      <p:sp>
        <p:nvSpPr>
          <p:cNvPr id="5" name="Rectangle 3"/>
          <p:cNvSpPr txBox="1">
            <a:spLocks noChangeArrowheads="1"/>
          </p:cNvSpPr>
          <p:nvPr/>
        </p:nvSpPr>
        <p:spPr>
          <a:xfrm>
            <a:off x="228600" y="581724"/>
            <a:ext cx="7905711" cy="438145"/>
          </a:xfrm>
          <a:prstGeom prst="rect">
            <a:avLst/>
          </a:prstGeom>
        </p:spPr>
        <p:txBody>
          <a:bodyPr>
            <a:noAutofit/>
          </a:bodyPr>
          <a:lstStyle>
            <a:lvl1pPr marL="1440180" indent="-1440180" algn="l" defTabSz="3840480" rtl="0" eaLnBrk="1" latinLnBrk="0" hangingPunct="1">
              <a:spcBef>
                <a:spcPct val="20000"/>
              </a:spcBef>
              <a:buFont typeface="Arial" pitchFamily="34" charset="0"/>
              <a:buChar char="•"/>
              <a:defRPr sz="13440" kern="1200">
                <a:solidFill>
                  <a:schemeClr val="tx1"/>
                </a:solidFill>
                <a:latin typeface="+mn-lt"/>
                <a:ea typeface="+mn-ea"/>
                <a:cs typeface="+mn-cs"/>
              </a:defRPr>
            </a:lvl1pPr>
            <a:lvl2pPr marL="3120390" indent="-1200150" algn="l" defTabSz="3840480" rtl="0" eaLnBrk="1" latinLnBrk="0" hangingPunct="1">
              <a:spcBef>
                <a:spcPct val="20000"/>
              </a:spcBef>
              <a:buFont typeface="Arial" pitchFamily="34" charset="0"/>
              <a:buChar char="–"/>
              <a:defRPr sz="11760" kern="1200">
                <a:solidFill>
                  <a:schemeClr val="tx1"/>
                </a:solidFill>
                <a:latin typeface="+mn-lt"/>
                <a:ea typeface="+mn-ea"/>
                <a:cs typeface="+mn-cs"/>
              </a:defRPr>
            </a:lvl2pPr>
            <a:lvl3pPr marL="4800600" indent="-960120" algn="l" defTabSz="3840480" rtl="0" eaLnBrk="1" latinLnBrk="0" hangingPunct="1">
              <a:spcBef>
                <a:spcPct val="20000"/>
              </a:spcBef>
              <a:buFont typeface="Arial" pitchFamily="34" charset="0"/>
              <a:buChar char="•"/>
              <a:defRPr sz="10080" kern="1200">
                <a:solidFill>
                  <a:schemeClr val="tx1"/>
                </a:solidFill>
                <a:latin typeface="+mn-lt"/>
                <a:ea typeface="+mn-ea"/>
                <a:cs typeface="+mn-cs"/>
              </a:defRPr>
            </a:lvl3pPr>
            <a:lvl4pPr marL="672084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4pPr>
            <a:lvl5pPr marL="864108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5pPr>
            <a:lvl6pPr marL="1056132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156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180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204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9pPr>
          </a:lstStyle>
          <a:p>
            <a:pPr marL="0" indent="-466650">
              <a:spcBef>
                <a:spcPts val="0"/>
              </a:spcBef>
              <a:buClr>
                <a:schemeClr val="tx1"/>
              </a:buClr>
              <a:buNone/>
            </a:pPr>
            <a:r>
              <a:rPr lang="en-US" sz="1375" b="1">
                <a:solidFill>
                  <a:schemeClr val="accent6"/>
                </a:solidFill>
                <a:latin typeface="Calibri" pitchFamily="34" charset="0"/>
              </a:rPr>
              <a:t>Aptamers are nucleic acids selected </a:t>
            </a:r>
            <a:r>
              <a:rPr lang="en-US" sz="1375" b="1" i="1">
                <a:solidFill>
                  <a:schemeClr val="accent6"/>
                </a:solidFill>
                <a:latin typeface="Calibri" pitchFamily="34" charset="0"/>
              </a:rPr>
              <a:t>in vitro </a:t>
            </a:r>
            <a:r>
              <a:rPr lang="en-US" sz="1375" b="1">
                <a:solidFill>
                  <a:schemeClr val="accent6"/>
                </a:solidFill>
                <a:latin typeface="Calibri" pitchFamily="34" charset="0"/>
              </a:rPr>
              <a:t>from a library</a:t>
            </a:r>
            <a:r>
              <a:rPr lang="en-US" sz="1375" b="1" i="1">
                <a:solidFill>
                  <a:schemeClr val="accent6"/>
                </a:solidFill>
                <a:latin typeface="Calibri" pitchFamily="34" charset="0"/>
              </a:rPr>
              <a:t> </a:t>
            </a:r>
            <a:r>
              <a:rPr lang="en-US" sz="1375" b="1">
                <a:solidFill>
                  <a:schemeClr val="accent6"/>
                </a:solidFill>
                <a:latin typeface="Calibri" pitchFamily="34" charset="0"/>
              </a:rPr>
              <a:t>to bind to a particular target or targets.</a:t>
            </a:r>
          </a:p>
          <a:p>
            <a:pPr marL="0" indent="-466650">
              <a:spcBef>
                <a:spcPts val="0"/>
              </a:spcBef>
              <a:buClr>
                <a:schemeClr val="tx1"/>
              </a:buClr>
              <a:buNone/>
            </a:pPr>
            <a:r>
              <a:rPr lang="en-US" sz="800">
                <a:latin typeface="Calibri" pitchFamily="34" charset="0"/>
              </a:rPr>
              <a:t>Aptamer” is a term coined by Andy Ellington:  “</a:t>
            </a:r>
            <a:r>
              <a:rPr lang="en-US" sz="800" i="1" err="1">
                <a:latin typeface="Calibri" pitchFamily="34" charset="0"/>
              </a:rPr>
              <a:t>Aptus</a:t>
            </a:r>
            <a:r>
              <a:rPr lang="en-US" sz="800" i="1">
                <a:latin typeface="Calibri" pitchFamily="34" charset="0"/>
              </a:rPr>
              <a:t>” </a:t>
            </a:r>
            <a:r>
              <a:rPr lang="en-US" sz="800">
                <a:latin typeface="Calibri" pitchFamily="34" charset="0"/>
              </a:rPr>
              <a:t>= “to fit” + “</a:t>
            </a:r>
            <a:r>
              <a:rPr lang="en-US" sz="800" err="1">
                <a:latin typeface="Calibri" pitchFamily="34" charset="0"/>
              </a:rPr>
              <a:t>meros</a:t>
            </a:r>
            <a:r>
              <a:rPr lang="en-US" sz="800">
                <a:latin typeface="Calibri" pitchFamily="34" charset="0"/>
              </a:rPr>
              <a:t>” = “part”.</a:t>
            </a:r>
            <a:endParaRPr lang="en-US" altLang="zh-CN" sz="800">
              <a:latin typeface="Calibri" pitchFamily="34" charset="0"/>
            </a:endParaRPr>
          </a:p>
          <a:p>
            <a:pPr marL="466650" indent="-466650">
              <a:buClr>
                <a:schemeClr val="tx1"/>
              </a:buClr>
              <a:buNone/>
            </a:pPr>
            <a:endParaRPr lang="en-US" sz="1250" b="1">
              <a:solidFill>
                <a:srgbClr val="499A00"/>
              </a:solidFill>
              <a:latin typeface="Calibri" pitchFamily="34" charset="0"/>
              <a:ea typeface="SimSun" pitchFamily="2" charset="-122"/>
            </a:endParaRPr>
          </a:p>
        </p:txBody>
      </p:sp>
      <p:sp>
        <p:nvSpPr>
          <p:cNvPr id="6" name="TextBox 5"/>
          <p:cNvSpPr txBox="1"/>
          <p:nvPr/>
        </p:nvSpPr>
        <p:spPr>
          <a:xfrm>
            <a:off x="154610" y="1171929"/>
            <a:ext cx="6071532" cy="669414"/>
          </a:xfrm>
          <a:prstGeom prst="rect">
            <a:avLst/>
          </a:prstGeom>
          <a:noFill/>
        </p:spPr>
        <p:txBody>
          <a:bodyPr wrap="square" rtlCol="0">
            <a:spAutoFit/>
          </a:bodyPr>
          <a:lstStyle/>
          <a:p>
            <a:pPr defTabSz="799972">
              <a:spcBef>
                <a:spcPts val="208"/>
              </a:spcBef>
              <a:buClr>
                <a:prstClr val="black"/>
              </a:buClr>
            </a:pPr>
            <a:r>
              <a:rPr lang="en-US" altLang="zh-CN" sz="1250">
                <a:solidFill>
                  <a:prstClr val="black"/>
                </a:solidFill>
                <a:latin typeface="Calibri" pitchFamily="34" charset="0"/>
              </a:rPr>
              <a:t>Like enzymes and antibodies, target recognition and binding involves three dimensional shape-dependent interactions, as well as charge interactions, hydrophobic interactions, base-stacking, intercalation, etc.  </a:t>
            </a:r>
            <a:r>
              <a:rPr lang="en-US" altLang="zh-CN" sz="1250" b="1">
                <a:solidFill>
                  <a:prstClr val="black"/>
                </a:solidFill>
                <a:latin typeface="Calibri" pitchFamily="34" charset="0"/>
              </a:rPr>
              <a:t>Aptamers bind because they “fit” their targets.</a:t>
            </a:r>
          </a:p>
        </p:txBody>
      </p:sp>
      <p:sp>
        <p:nvSpPr>
          <p:cNvPr id="11" name="Rectangle 9"/>
          <p:cNvSpPr>
            <a:spLocks noChangeArrowheads="1"/>
          </p:cNvSpPr>
          <p:nvPr/>
        </p:nvSpPr>
        <p:spPr bwMode="auto">
          <a:xfrm>
            <a:off x="228600" y="1927282"/>
            <a:ext cx="5791200" cy="1105944"/>
          </a:xfrm>
          <a:prstGeom prst="rect">
            <a:avLst/>
          </a:prstGeom>
          <a:noFill/>
          <a:ln w="9525">
            <a:solidFill>
              <a:schemeClr val="tx1"/>
            </a:solidFill>
            <a:miter lim="800000"/>
            <a:headEnd/>
            <a:tailEnd/>
          </a:ln>
        </p:spPr>
        <p:txBody>
          <a:bodyPr wrap="square">
            <a:spAutoFit/>
          </a:bodyPr>
          <a:lstStyle/>
          <a:p>
            <a:pPr marL="285704" indent="-285704">
              <a:buAutoNum type="romanUcPeriod"/>
            </a:pPr>
            <a:r>
              <a:rPr lang="en-US" sz="917" b="1">
                <a:solidFill>
                  <a:srgbClr val="256800">
                    <a:lumMod val="50000"/>
                  </a:srgbClr>
                </a:solidFill>
                <a:latin typeface="Calibri"/>
              </a:rPr>
              <a:t>MULTIPLEXING</a:t>
            </a:r>
            <a:r>
              <a:rPr lang="en-US" sz="917">
                <a:solidFill>
                  <a:srgbClr val="256800">
                    <a:lumMod val="50000"/>
                  </a:srgbClr>
                </a:solidFill>
                <a:latin typeface="Calibri"/>
              </a:rPr>
              <a:t> </a:t>
            </a:r>
            <a:r>
              <a:rPr lang="en-US" sz="917" b="1">
                <a:solidFill>
                  <a:srgbClr val="256800">
                    <a:lumMod val="50000"/>
                  </a:srgbClr>
                </a:solidFill>
                <a:latin typeface="Calibri"/>
              </a:rPr>
              <a:t>TECHNOLOGY</a:t>
            </a:r>
          </a:p>
          <a:p>
            <a:r>
              <a:rPr lang="en-US" sz="917">
                <a:solidFill>
                  <a:srgbClr val="256800">
                    <a:lumMod val="50000"/>
                  </a:srgbClr>
                </a:solidFill>
                <a:latin typeface="Calibri"/>
              </a:rPr>
              <a:t>Conventional SELEX allows development of aptamers for only one target at a time.  Base Pair’s patented multiplexing method allows us to screen our libraries against up to 30 targets </a:t>
            </a:r>
            <a:r>
              <a:rPr lang="en-US" sz="917" b="1" i="1">
                <a:solidFill>
                  <a:srgbClr val="256800">
                    <a:lumMod val="50000"/>
                  </a:srgbClr>
                </a:solidFill>
                <a:latin typeface="Calibri"/>
              </a:rPr>
              <a:t>simultaneously</a:t>
            </a:r>
            <a:r>
              <a:rPr lang="en-US" sz="917">
                <a:solidFill>
                  <a:srgbClr val="256800">
                    <a:lumMod val="50000"/>
                  </a:srgbClr>
                </a:solidFill>
                <a:latin typeface="Calibri"/>
              </a:rPr>
              <a:t>.</a:t>
            </a:r>
          </a:p>
          <a:p>
            <a:endParaRPr lang="en-US" sz="167">
              <a:solidFill>
                <a:srgbClr val="256800">
                  <a:lumMod val="50000"/>
                </a:srgbClr>
              </a:solidFill>
              <a:latin typeface="Calibri"/>
            </a:endParaRPr>
          </a:p>
          <a:p>
            <a:pPr marL="238087" indent="-238087">
              <a:buFont typeface="Wingdings" panose="05000000000000000000" pitchFamily="2" charset="2"/>
              <a:buChar char="Ø"/>
            </a:pPr>
            <a:r>
              <a:rPr lang="en-US" sz="917">
                <a:solidFill>
                  <a:srgbClr val="256800">
                    <a:lumMod val="50000"/>
                  </a:srgbClr>
                </a:solidFill>
                <a:latin typeface="Calibri"/>
              </a:rPr>
              <a:t>Shorter times to results AND the capability to identify binders under identical conditions in the same samples </a:t>
            </a:r>
          </a:p>
          <a:p>
            <a:pPr marL="238087" indent="-238087">
              <a:buFont typeface="Wingdings" panose="05000000000000000000" pitchFamily="2" charset="2"/>
              <a:buChar char="Ø"/>
            </a:pPr>
            <a:r>
              <a:rPr lang="en-US" sz="917" i="1">
                <a:solidFill>
                  <a:srgbClr val="256800">
                    <a:lumMod val="50000"/>
                  </a:srgbClr>
                </a:solidFill>
                <a:latin typeface="Calibri"/>
              </a:rPr>
              <a:t>U.S. Patent No. 8,314,052</a:t>
            </a:r>
            <a:r>
              <a:rPr lang="en-US" sz="917">
                <a:solidFill>
                  <a:srgbClr val="256800">
                    <a:lumMod val="50000"/>
                  </a:srgbClr>
                </a:solidFill>
                <a:latin typeface="Calibri"/>
              </a:rPr>
              <a:t>:  a barcoding strategy that uses next generation sequencing to map aptamers binding to specific targets to their cognate sequences, even in complex mixtures.</a:t>
            </a:r>
          </a:p>
          <a:p>
            <a:pPr indent="190470">
              <a:buFont typeface="Arial" panose="020B0604020202020204" pitchFamily="34" charset="0"/>
              <a:buChar char="•"/>
            </a:pPr>
            <a:r>
              <a:rPr lang="en-US" sz="917">
                <a:solidFill>
                  <a:srgbClr val="256800">
                    <a:lumMod val="50000"/>
                  </a:srgbClr>
                </a:solidFill>
                <a:latin typeface="Calibri"/>
              </a:rPr>
              <a:t>Also issued in Japan, Canada, and EU (validated in Germany, France, Great Britain, and Italy)</a:t>
            </a:r>
          </a:p>
        </p:txBody>
      </p:sp>
      <p:sp>
        <p:nvSpPr>
          <p:cNvPr id="12" name="TextBox 11"/>
          <p:cNvSpPr txBox="1"/>
          <p:nvPr/>
        </p:nvSpPr>
        <p:spPr>
          <a:xfrm>
            <a:off x="228600" y="3204094"/>
            <a:ext cx="4811245" cy="656846"/>
          </a:xfrm>
          <a:prstGeom prst="rect">
            <a:avLst/>
          </a:prstGeom>
          <a:noFill/>
          <a:ln>
            <a:solidFill>
              <a:schemeClr val="tx1"/>
            </a:solidFill>
          </a:ln>
        </p:spPr>
        <p:txBody>
          <a:bodyPr wrap="square" rtlCol="0">
            <a:spAutoFit/>
          </a:bodyPr>
          <a:lstStyle/>
          <a:p>
            <a:pPr marL="285704" indent="-285704">
              <a:buAutoNum type="romanUcPeriod" startAt="2"/>
            </a:pPr>
            <a:r>
              <a:rPr lang="en-US" sz="917" b="1">
                <a:latin typeface="Calibri" panose="020F0502020204030204" pitchFamily="34" charset="0"/>
              </a:rPr>
              <a:t>VENN MULTIPLEX SELEX™</a:t>
            </a:r>
          </a:p>
          <a:p>
            <a:r>
              <a:rPr lang="en-US" sz="917">
                <a:latin typeface="Calibri" panose="020F0502020204030204" pitchFamily="34" charset="0"/>
              </a:rPr>
              <a:t>Proprietary bioinformatics algorithms combined with multiplex SELEX allow Base Pair to distinguish aptamers that bind single targets or multiple targets, and that do not bind unwanted molecules.</a:t>
            </a:r>
          </a:p>
        </p:txBody>
      </p:sp>
      <p:sp>
        <p:nvSpPr>
          <p:cNvPr id="14" name="Rectangle 13"/>
          <p:cNvSpPr/>
          <p:nvPr/>
        </p:nvSpPr>
        <p:spPr>
          <a:xfrm>
            <a:off x="228600" y="4049576"/>
            <a:ext cx="4754139" cy="1927002"/>
          </a:xfrm>
          <a:prstGeom prst="rect">
            <a:avLst/>
          </a:prstGeom>
          <a:ln>
            <a:solidFill>
              <a:schemeClr val="tx1"/>
            </a:solidFill>
          </a:ln>
        </p:spPr>
        <p:txBody>
          <a:bodyPr wrap="square">
            <a:spAutoFit/>
          </a:bodyPr>
          <a:lstStyle/>
          <a:p>
            <a:r>
              <a:rPr lang="en-US" sz="917" b="1">
                <a:solidFill>
                  <a:srgbClr val="256800">
                    <a:lumMod val="50000"/>
                  </a:srgbClr>
                </a:solidFill>
                <a:latin typeface="Calibri"/>
              </a:rPr>
              <a:t>III. 	PROPRIETARY LIBRARIES</a:t>
            </a:r>
          </a:p>
          <a:p>
            <a:r>
              <a:rPr lang="en-US" sz="917">
                <a:solidFill>
                  <a:srgbClr val="256800">
                    <a:lumMod val="50000"/>
                  </a:srgbClr>
                </a:solidFill>
                <a:latin typeface="Calibri"/>
              </a:rPr>
              <a:t>Base Pair has very large aptamer candidate libraries consisting of ~10</a:t>
            </a:r>
            <a:r>
              <a:rPr lang="en-US" sz="917" baseline="30000">
                <a:solidFill>
                  <a:srgbClr val="256800">
                    <a:lumMod val="50000"/>
                  </a:srgbClr>
                </a:solidFill>
                <a:latin typeface="Calibri"/>
              </a:rPr>
              <a:t>15</a:t>
            </a:r>
            <a:r>
              <a:rPr lang="en-US" sz="917">
                <a:solidFill>
                  <a:srgbClr val="256800">
                    <a:lumMod val="50000"/>
                  </a:srgbClr>
                </a:solidFill>
                <a:latin typeface="Calibri"/>
              </a:rPr>
              <a:t> unique molecules (for comparison, the best phage display antibody libraries have ~10</a:t>
            </a:r>
            <a:r>
              <a:rPr lang="en-US" sz="917" baseline="30000">
                <a:solidFill>
                  <a:srgbClr val="256800">
                    <a:lumMod val="50000"/>
                  </a:srgbClr>
                </a:solidFill>
                <a:latin typeface="Calibri"/>
              </a:rPr>
              <a:t>9</a:t>
            </a:r>
            <a:r>
              <a:rPr lang="en-US" sz="917">
                <a:solidFill>
                  <a:srgbClr val="256800">
                    <a:lumMod val="50000"/>
                  </a:srgbClr>
                </a:solidFill>
                <a:latin typeface="Calibri"/>
              </a:rPr>
              <a:t>)</a:t>
            </a:r>
          </a:p>
          <a:p>
            <a:pPr marL="238087" indent="-238087">
              <a:buFont typeface="Arial" panose="020B0604020202020204" pitchFamily="34" charset="0"/>
              <a:buChar char="•"/>
            </a:pPr>
            <a:r>
              <a:rPr lang="en-US" sz="917" u="sng">
                <a:solidFill>
                  <a:srgbClr val="256800">
                    <a:lumMod val="50000"/>
                  </a:srgbClr>
                </a:solidFill>
                <a:latin typeface="Calibri"/>
              </a:rPr>
              <a:t>Standard libraries</a:t>
            </a:r>
            <a:r>
              <a:rPr lang="en-US" sz="917">
                <a:solidFill>
                  <a:srgbClr val="256800">
                    <a:lumMod val="50000"/>
                  </a:srgbClr>
                </a:solidFill>
                <a:latin typeface="Calibri"/>
              </a:rPr>
              <a:t> - 32-base random-sequence, synthetic native DNA or RNA, flanked by amplification primers</a:t>
            </a:r>
          </a:p>
          <a:p>
            <a:pPr marL="238087" indent="-238087">
              <a:buFont typeface="Arial" panose="020B0604020202020204" pitchFamily="34" charset="0"/>
              <a:buChar char="•"/>
            </a:pPr>
            <a:r>
              <a:rPr lang="en-US" sz="917" u="sng">
                <a:solidFill>
                  <a:srgbClr val="256800">
                    <a:lumMod val="50000"/>
                  </a:srgbClr>
                </a:solidFill>
                <a:latin typeface="Calibri"/>
              </a:rPr>
              <a:t>Specialized libraries</a:t>
            </a:r>
            <a:r>
              <a:rPr lang="en-US" sz="917">
                <a:solidFill>
                  <a:srgbClr val="256800">
                    <a:lumMod val="50000"/>
                  </a:srgbClr>
                </a:solidFill>
                <a:latin typeface="Calibri"/>
              </a:rPr>
              <a:t> - modifications that increase overall hydrophobicity, are tailored to bind specific targets (e.g. chelators), and/or other modifications that increase the diversity of secondary and tertiary structural conformations</a:t>
            </a:r>
          </a:p>
          <a:p>
            <a:pPr marL="238087" indent="-238087">
              <a:buFont typeface="Arial" panose="020B0604020202020204" pitchFamily="34" charset="0"/>
              <a:buChar char="•"/>
            </a:pPr>
            <a:r>
              <a:rPr lang="en-US" sz="917" u="sng">
                <a:solidFill>
                  <a:srgbClr val="256800">
                    <a:lumMod val="50000"/>
                  </a:srgbClr>
                </a:solidFill>
                <a:latin typeface="Calibri"/>
              </a:rPr>
              <a:t>Highly customized libraries</a:t>
            </a:r>
            <a:r>
              <a:rPr lang="en-US" sz="917">
                <a:solidFill>
                  <a:srgbClr val="256800">
                    <a:lumMod val="50000"/>
                  </a:srgbClr>
                </a:solidFill>
                <a:latin typeface="Calibri"/>
              </a:rPr>
              <a:t> - sensor-specific sequences and conformational changing structures designed upon request (including ribozymes/riboswitches)</a:t>
            </a:r>
          </a:p>
          <a:p>
            <a:pPr marL="238087" indent="-238087">
              <a:buFont typeface="Arial" panose="020B0604020202020204" pitchFamily="34" charset="0"/>
              <a:buChar char="•"/>
            </a:pPr>
            <a:r>
              <a:rPr lang="en-US" sz="917" u="sng">
                <a:solidFill>
                  <a:srgbClr val="256800">
                    <a:lumMod val="50000"/>
                  </a:srgbClr>
                </a:solidFill>
                <a:latin typeface="Calibri"/>
              </a:rPr>
              <a:t>Affinity maturation</a:t>
            </a:r>
            <a:r>
              <a:rPr lang="en-US" sz="917">
                <a:solidFill>
                  <a:srgbClr val="256800">
                    <a:lumMod val="50000"/>
                  </a:srgbClr>
                </a:solidFill>
                <a:latin typeface="Calibri"/>
              </a:rPr>
              <a:t> - Once initial selection is complete, aptamers can be “matured” by generating highly-focused, aptamer-specific libraries containing smaller randomized regions, truncations, nuclease-blocking technology, or conformational locking.</a:t>
            </a:r>
          </a:p>
        </p:txBody>
      </p:sp>
      <p:sp>
        <p:nvSpPr>
          <p:cNvPr id="15" name="Rectangle 9"/>
          <p:cNvSpPr>
            <a:spLocks noChangeArrowheads="1"/>
          </p:cNvSpPr>
          <p:nvPr/>
        </p:nvSpPr>
        <p:spPr bwMode="auto">
          <a:xfrm>
            <a:off x="6785705" y="3692744"/>
            <a:ext cx="1965583" cy="374590"/>
          </a:xfrm>
          <a:prstGeom prst="rect">
            <a:avLst/>
          </a:prstGeom>
          <a:noFill/>
          <a:ln w="9525">
            <a:noFill/>
            <a:miter lim="800000"/>
            <a:headEnd/>
            <a:tailEnd/>
          </a:ln>
        </p:spPr>
        <p:txBody>
          <a:bodyPr wrap="square">
            <a:spAutoFit/>
          </a:bodyPr>
          <a:lstStyle/>
          <a:p>
            <a:pPr>
              <a:spcAft>
                <a:spcPts val="625"/>
              </a:spcAft>
            </a:pPr>
            <a:r>
              <a:rPr lang="en-US" sz="917" b="1">
                <a:solidFill>
                  <a:srgbClr val="256800">
                    <a:lumMod val="50000"/>
                  </a:srgbClr>
                </a:solidFill>
                <a:latin typeface="Calibri"/>
              </a:rPr>
              <a:t>Systematic Evolution of Ligands by Exponential Enrichment (SELEX)</a:t>
            </a:r>
          </a:p>
        </p:txBody>
      </p:sp>
      <p:pic>
        <p:nvPicPr>
          <p:cNvPr id="16" name="Picture 15" descr="http://basepair.kallidustesting.com/wp-content/uploads/2015/04/Aptamer_SELEX.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5541" y="1136131"/>
            <a:ext cx="1514910" cy="2556613"/>
          </a:xfrm>
          <a:prstGeom prst="rect">
            <a:avLst/>
          </a:prstGeom>
          <a:noFill/>
          <a:ln>
            <a:noFill/>
          </a:ln>
        </p:spPr>
      </p:pic>
    </p:spTree>
    <p:extLst>
      <p:ext uri="{BB962C8B-B14F-4D97-AF65-F5344CB8AC3E}">
        <p14:creationId xmlns:p14="http://schemas.microsoft.com/office/powerpoint/2010/main" val="1786387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8"/>
          <p:cNvSpPr>
            <a:spLocks noGrp="1"/>
          </p:cNvSpPr>
          <p:nvPr>
            <p:ph type="title"/>
          </p:nvPr>
        </p:nvSpPr>
        <p:spPr>
          <a:xfrm>
            <a:off x="277252" y="214748"/>
            <a:ext cx="6230701" cy="450056"/>
          </a:xfrm>
        </p:spPr>
        <p:txBody>
          <a:bodyPr anchor="ctr">
            <a:noAutofit/>
          </a:bodyPr>
          <a:lstStyle/>
          <a:p>
            <a:r>
              <a:rPr lang="en-US" sz="2700" dirty="0">
                <a:latin typeface="D-DIN"/>
              </a:rPr>
              <a:t>VennPlex SELEX (Patented by </a:t>
            </a:r>
            <a:r>
              <a:rPr lang="en-US" sz="2700" dirty="0" err="1">
                <a:latin typeface="D-DIN"/>
              </a:rPr>
              <a:t>BasePair</a:t>
            </a:r>
            <a:r>
              <a:rPr lang="en-US" sz="2700" dirty="0">
                <a:latin typeface="D-DIN"/>
              </a:rPr>
              <a:t>)</a:t>
            </a:r>
          </a:p>
        </p:txBody>
      </p:sp>
      <p:sp>
        <p:nvSpPr>
          <p:cNvPr id="6" name="TextBox 5"/>
          <p:cNvSpPr txBox="1"/>
          <p:nvPr/>
        </p:nvSpPr>
        <p:spPr>
          <a:xfrm>
            <a:off x="200910" y="1143824"/>
            <a:ext cx="4953509" cy="2923877"/>
          </a:xfrm>
          <a:prstGeom prst="rect">
            <a:avLst/>
          </a:prstGeom>
          <a:noFill/>
        </p:spPr>
        <p:txBody>
          <a:bodyPr wrap="square" rtlCol="0">
            <a:spAutoFit/>
          </a:bodyPr>
          <a:lstStyle/>
          <a:p>
            <a:r>
              <a:rPr lang="en-US" sz="1600" b="1" dirty="0">
                <a:latin typeface="Calibri" panose="020F0502020204030204" pitchFamily="34" charset="0"/>
              </a:rPr>
              <a:t>Venn Multiplex SELEX™</a:t>
            </a:r>
          </a:p>
          <a:p>
            <a:r>
              <a:rPr lang="en-US" sz="1400" dirty="0">
                <a:latin typeface="Calibri" panose="020F0502020204030204" pitchFamily="34" charset="0"/>
              </a:rPr>
              <a:t>Proprietary bioinformatics algorithms and a patented barcoding strategy allow us to find aptamers that bind single targets </a:t>
            </a:r>
            <a:r>
              <a:rPr lang="en-US" sz="1400" i="1" dirty="0">
                <a:latin typeface="Calibri" panose="020F0502020204030204" pitchFamily="34" charset="0"/>
              </a:rPr>
              <a:t>or </a:t>
            </a:r>
            <a:r>
              <a:rPr lang="en-US" sz="1400" dirty="0">
                <a:latin typeface="Calibri" panose="020F0502020204030204" pitchFamily="34" charset="0"/>
              </a:rPr>
              <a:t>multiple targets, and that do not bind to unwanted molecules</a:t>
            </a:r>
          </a:p>
          <a:p>
            <a:endParaRPr lang="en-US" sz="1400" dirty="0">
              <a:latin typeface="Calibri" panose="020F0502020204030204" pitchFamily="34" charset="0"/>
            </a:endParaRPr>
          </a:p>
          <a:p>
            <a:pPr marL="182880" indent="-182880">
              <a:buFont typeface="Arial" panose="020B0604020202020204" pitchFamily="34" charset="0"/>
              <a:buChar char="•"/>
            </a:pPr>
            <a:r>
              <a:rPr lang="en-US" sz="1400" dirty="0">
                <a:latin typeface="Calibri"/>
              </a:rPr>
              <a:t>Identifies binders up to </a:t>
            </a:r>
            <a:r>
              <a:rPr lang="en-US" sz="1400" b="1" dirty="0">
                <a:latin typeface="Calibri"/>
              </a:rPr>
              <a:t>30 targets </a:t>
            </a:r>
            <a:r>
              <a:rPr lang="en-US" sz="1400" dirty="0">
                <a:latin typeface="Calibri"/>
              </a:rPr>
              <a:t>under identical conditions in the same samples</a:t>
            </a:r>
          </a:p>
          <a:p>
            <a:pPr marL="182880" indent="-182880">
              <a:buFont typeface="Arial" panose="020B0604020202020204" pitchFamily="34" charset="0"/>
              <a:buChar char="•"/>
            </a:pPr>
            <a:endParaRPr lang="en-US" sz="1400" dirty="0">
              <a:latin typeface="Calibri"/>
            </a:endParaRPr>
          </a:p>
          <a:p>
            <a:pPr marL="182880" indent="-182880">
              <a:buFont typeface="Arial" panose="020B0604020202020204" pitchFamily="34" charset="0"/>
              <a:buChar char="•"/>
            </a:pPr>
            <a:r>
              <a:rPr lang="en-US" sz="1400" u="sng" dirty="0">
                <a:latin typeface="Calibri"/>
              </a:rPr>
              <a:t>Same time our competitors require for a single target.</a:t>
            </a:r>
          </a:p>
          <a:p>
            <a:pPr marL="182880" indent="-182880">
              <a:buFont typeface="Arial" panose="020B0604020202020204" pitchFamily="34" charset="0"/>
              <a:buChar char="•"/>
            </a:pPr>
            <a:endParaRPr lang="en-US" sz="1400" u="sng" dirty="0">
              <a:latin typeface="Calibri"/>
            </a:endParaRPr>
          </a:p>
          <a:p>
            <a:pPr marL="182880" indent="-182880">
              <a:buFont typeface="Arial" panose="020B0604020202020204" pitchFamily="34" charset="0"/>
              <a:buChar char="•"/>
            </a:pPr>
            <a:r>
              <a:rPr lang="en-US" sz="1400" dirty="0">
                <a:latin typeface="Calibri"/>
              </a:rPr>
              <a:t>Reduces cost by grouping together targets/projects, providing pricing advantage</a:t>
            </a:r>
          </a:p>
          <a:p>
            <a:endParaRPr lang="en-US" sz="1400" dirty="0">
              <a:latin typeface="Calibri" panose="020F0502020204030204" pitchFamily="34" charset="0"/>
            </a:endParaRPr>
          </a:p>
        </p:txBody>
      </p:sp>
      <p:sp>
        <p:nvSpPr>
          <p:cNvPr id="8" name="Rectangle 3"/>
          <p:cNvSpPr txBox="1">
            <a:spLocks noChangeArrowheads="1"/>
          </p:cNvSpPr>
          <p:nvPr/>
        </p:nvSpPr>
        <p:spPr>
          <a:xfrm>
            <a:off x="427565" y="3982020"/>
            <a:ext cx="4456348" cy="1828845"/>
          </a:xfrm>
          <a:prstGeom prst="rect">
            <a:avLst/>
          </a:prstGeom>
        </p:spPr>
        <p:txBody>
          <a:bodyPr>
            <a:noAutofit/>
          </a:bodyPr>
          <a:lstStyle>
            <a:lvl1pPr marL="1440180" indent="-1440180" algn="l" defTabSz="3840480" rtl="0" eaLnBrk="1" latinLnBrk="0" hangingPunct="1">
              <a:spcBef>
                <a:spcPct val="20000"/>
              </a:spcBef>
              <a:buFont typeface="Arial" pitchFamily="34" charset="0"/>
              <a:buChar char="•"/>
              <a:defRPr sz="13440" kern="1200">
                <a:solidFill>
                  <a:schemeClr val="tx1"/>
                </a:solidFill>
                <a:latin typeface="+mn-lt"/>
                <a:ea typeface="+mn-ea"/>
                <a:cs typeface="+mn-cs"/>
              </a:defRPr>
            </a:lvl1pPr>
            <a:lvl2pPr marL="3120390" indent="-1200150" algn="l" defTabSz="3840480" rtl="0" eaLnBrk="1" latinLnBrk="0" hangingPunct="1">
              <a:spcBef>
                <a:spcPct val="20000"/>
              </a:spcBef>
              <a:buFont typeface="Arial" pitchFamily="34" charset="0"/>
              <a:buChar char="–"/>
              <a:defRPr sz="11760" kern="1200">
                <a:solidFill>
                  <a:schemeClr val="tx1"/>
                </a:solidFill>
                <a:latin typeface="+mn-lt"/>
                <a:ea typeface="+mn-ea"/>
                <a:cs typeface="+mn-cs"/>
              </a:defRPr>
            </a:lvl2pPr>
            <a:lvl3pPr marL="4800600" indent="-960120" algn="l" defTabSz="3840480" rtl="0" eaLnBrk="1" latinLnBrk="0" hangingPunct="1">
              <a:spcBef>
                <a:spcPct val="20000"/>
              </a:spcBef>
              <a:buFont typeface="Arial" pitchFamily="34" charset="0"/>
              <a:buChar char="•"/>
              <a:defRPr sz="10080" kern="1200">
                <a:solidFill>
                  <a:schemeClr val="tx1"/>
                </a:solidFill>
                <a:latin typeface="+mn-lt"/>
                <a:ea typeface="+mn-ea"/>
                <a:cs typeface="+mn-cs"/>
              </a:defRPr>
            </a:lvl3pPr>
            <a:lvl4pPr marL="672084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4pPr>
            <a:lvl5pPr marL="864108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5pPr>
            <a:lvl6pPr marL="1056132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156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180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2040" indent="-960120" algn="l" defTabSz="3840480" rtl="0" eaLnBrk="1" latinLnBrk="0" hangingPunct="1">
              <a:spcBef>
                <a:spcPct val="20000"/>
              </a:spcBef>
              <a:buFont typeface="Arial" pitchFamily="34" charset="0"/>
              <a:buChar char="•"/>
              <a:defRPr sz="8400" kern="1200">
                <a:solidFill>
                  <a:schemeClr val="tx1"/>
                </a:solidFill>
                <a:latin typeface="+mn-lt"/>
                <a:ea typeface="+mn-ea"/>
                <a:cs typeface="+mn-cs"/>
              </a:defRPr>
            </a:lvl9pPr>
          </a:lstStyle>
          <a:p>
            <a:pPr marL="0" indent="0">
              <a:spcBef>
                <a:spcPts val="0"/>
              </a:spcBef>
              <a:buClr>
                <a:schemeClr val="tx1"/>
              </a:buClr>
              <a:buNone/>
            </a:pPr>
            <a:r>
              <a:rPr lang="en-US" sz="1400" dirty="0">
                <a:latin typeface="Calibri" pitchFamily="34" charset="0"/>
                <a:ea typeface="SimSun" pitchFamily="2" charset="-122"/>
              </a:rPr>
              <a:t>In the example at right, a client had four related proteins and wanted  aptamers that were </a:t>
            </a:r>
            <a:r>
              <a:rPr lang="en-US" sz="1400" u="sng" dirty="0">
                <a:latin typeface="Calibri" pitchFamily="34" charset="0"/>
                <a:ea typeface="SimSun" pitchFamily="2" charset="-122"/>
              </a:rPr>
              <a:t>unique</a:t>
            </a:r>
            <a:r>
              <a:rPr lang="en-US" sz="1400" dirty="0">
                <a:latin typeface="Calibri" pitchFamily="34" charset="0"/>
                <a:ea typeface="SimSun" pitchFamily="2" charset="-122"/>
              </a:rPr>
              <a:t> for each protein as well as aptamers that could recognize </a:t>
            </a:r>
            <a:r>
              <a:rPr lang="en-US" sz="1400" u="sng" dirty="0">
                <a:latin typeface="Calibri" pitchFamily="34" charset="0"/>
                <a:ea typeface="SimSun" pitchFamily="2" charset="-122"/>
              </a:rPr>
              <a:t>all four</a:t>
            </a:r>
            <a:r>
              <a:rPr lang="en-US" sz="1400" dirty="0">
                <a:latin typeface="Calibri" pitchFamily="34" charset="0"/>
                <a:ea typeface="SimSun" pitchFamily="2" charset="-122"/>
              </a:rPr>
              <a:t> proteins</a:t>
            </a:r>
          </a:p>
          <a:p>
            <a:pPr marL="0" indent="0">
              <a:spcBef>
                <a:spcPts val="0"/>
              </a:spcBef>
              <a:buClr>
                <a:schemeClr val="tx1"/>
              </a:buClr>
              <a:buNone/>
            </a:pPr>
            <a:endParaRPr lang="en-US" sz="1400" dirty="0">
              <a:latin typeface="Calibri" pitchFamily="34" charset="0"/>
              <a:ea typeface="SimSun" pitchFamily="2" charset="-122"/>
            </a:endParaRPr>
          </a:p>
          <a:p>
            <a:pPr marL="0" indent="0">
              <a:spcBef>
                <a:spcPts val="0"/>
              </a:spcBef>
              <a:buClr>
                <a:schemeClr val="tx1"/>
              </a:buClr>
              <a:buNone/>
            </a:pPr>
            <a:r>
              <a:rPr lang="en-US" sz="1400" dirty="0">
                <a:latin typeface="Calibri" pitchFamily="34" charset="0"/>
                <a:ea typeface="SimSun" pitchFamily="2" charset="-122"/>
              </a:rPr>
              <a:t>VennPlex SELEX</a:t>
            </a:r>
            <a:r>
              <a:rPr lang="en-US" sz="1400" baseline="30000" dirty="0">
                <a:latin typeface="Calibri" pitchFamily="34" charset="0"/>
                <a:ea typeface="SimSun" pitchFamily="2" charset="-122"/>
              </a:rPr>
              <a:t>TM</a:t>
            </a:r>
            <a:r>
              <a:rPr lang="en-US" sz="1400" dirty="0">
                <a:latin typeface="Calibri" pitchFamily="34" charset="0"/>
                <a:ea typeface="SimSun" pitchFamily="2" charset="-122"/>
              </a:rPr>
              <a:t> identified 19 “pan binders” out of 100,000 aptamer candidates that bound all four related proteins while ignoring unwanted background, and also identified unique binders to each individual protein.</a:t>
            </a:r>
          </a:p>
        </p:txBody>
      </p:sp>
      <p:grpSp>
        <p:nvGrpSpPr>
          <p:cNvPr id="13" name="Group 12">
            <a:extLst>
              <a:ext uri="{FF2B5EF4-FFF2-40B4-BE49-F238E27FC236}">
                <a16:creationId xmlns:a16="http://schemas.microsoft.com/office/drawing/2014/main" id="{6A7C2C3E-1686-51BE-DA85-24301561045F}"/>
              </a:ext>
            </a:extLst>
          </p:cNvPr>
          <p:cNvGrpSpPr/>
          <p:nvPr/>
        </p:nvGrpSpPr>
        <p:grpSpPr>
          <a:xfrm>
            <a:off x="5034227" y="1271396"/>
            <a:ext cx="3704701" cy="4420805"/>
            <a:chOff x="5034227" y="1271396"/>
            <a:chExt cx="3704701" cy="4420805"/>
          </a:xfrm>
        </p:grpSpPr>
        <p:pic>
          <p:nvPicPr>
            <p:cNvPr id="7" name="Picture 6"/>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154419" y="1271396"/>
              <a:ext cx="3584509" cy="3715906"/>
            </a:xfrm>
            <a:prstGeom prst="rect">
              <a:avLst/>
            </a:prstGeom>
          </p:spPr>
        </p:pic>
        <p:cxnSp>
          <p:nvCxnSpPr>
            <p:cNvPr id="11" name="Straight Arrow Connector 10"/>
            <p:cNvCxnSpPr>
              <a:cxnSpLocks/>
            </p:cNvCxnSpPr>
            <p:nvPr/>
          </p:nvCxnSpPr>
          <p:spPr>
            <a:xfrm flipH="1" flipV="1">
              <a:off x="7134226" y="3873373"/>
              <a:ext cx="490197" cy="1172497"/>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361821" y="5045870"/>
              <a:ext cx="1354614" cy="646331"/>
            </a:xfrm>
            <a:prstGeom prst="rect">
              <a:avLst/>
            </a:prstGeom>
            <a:noFill/>
          </p:spPr>
          <p:txBody>
            <a:bodyPr wrap="square" rtlCol="0">
              <a:spAutoFit/>
            </a:bodyPr>
            <a:lstStyle/>
            <a:p>
              <a:r>
                <a:rPr lang="en-US" dirty="0"/>
                <a:t>Pan binders (19)</a:t>
              </a:r>
            </a:p>
          </p:txBody>
        </p:sp>
        <p:cxnSp>
          <p:nvCxnSpPr>
            <p:cNvPr id="14" name="Straight Arrow Connector 13"/>
            <p:cNvCxnSpPr>
              <a:cxnSpLocks/>
            </p:cNvCxnSpPr>
            <p:nvPr/>
          </p:nvCxnSpPr>
          <p:spPr>
            <a:xfrm flipV="1">
              <a:off x="5381074" y="3048000"/>
              <a:ext cx="389791" cy="1434637"/>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034227" y="4546722"/>
              <a:ext cx="1256386" cy="646331"/>
            </a:xfrm>
            <a:prstGeom prst="rect">
              <a:avLst/>
            </a:prstGeom>
            <a:noFill/>
          </p:spPr>
          <p:txBody>
            <a:bodyPr wrap="square" rtlCol="0">
              <a:spAutoFit/>
            </a:bodyPr>
            <a:lstStyle/>
            <a:p>
              <a:r>
                <a:rPr lang="en-US" dirty="0"/>
                <a:t>Unique binders</a:t>
              </a:r>
            </a:p>
          </p:txBody>
        </p:sp>
      </p:grpSp>
      <p:sp>
        <p:nvSpPr>
          <p:cNvPr id="2" name="Slide Number Placeholder 1">
            <a:extLst>
              <a:ext uri="{FF2B5EF4-FFF2-40B4-BE49-F238E27FC236}">
                <a16:creationId xmlns:a16="http://schemas.microsoft.com/office/drawing/2014/main" id="{922E4F9F-F25E-8D02-56E7-F6E462EFDEC5}"/>
              </a:ext>
            </a:extLst>
          </p:cNvPr>
          <p:cNvSpPr>
            <a:spLocks noGrp="1"/>
          </p:cNvSpPr>
          <p:nvPr>
            <p:ph type="sldNum" sz="quarter" idx="10"/>
          </p:nvPr>
        </p:nvSpPr>
        <p:spPr/>
        <p:txBody>
          <a:bodyPr/>
          <a:lstStyle/>
          <a:p>
            <a:fld id="{B2A8A024-7FA9-44CB-9E5D-E14EA791726A}" type="slidenum">
              <a:rPr lang="en-US" smtClean="0">
                <a:solidFill>
                  <a:prstClr val="black">
                    <a:tint val="75000"/>
                  </a:prstClr>
                </a:solidFill>
              </a:rPr>
              <a:pPr/>
              <a:t>3</a:t>
            </a:fld>
            <a:endParaRPr lang="en-US">
              <a:solidFill>
                <a:prstClr val="black">
                  <a:tint val="75000"/>
                </a:prstClr>
              </a:solidFill>
            </a:endParaRPr>
          </a:p>
        </p:txBody>
      </p:sp>
    </p:spTree>
    <p:extLst>
      <p:ext uri="{BB962C8B-B14F-4D97-AF65-F5344CB8AC3E}">
        <p14:creationId xmlns:p14="http://schemas.microsoft.com/office/powerpoint/2010/main" val="1468276581"/>
      </p:ext>
    </p:extLst>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9" y="279374"/>
            <a:ext cx="5791200" cy="685800"/>
          </a:xfrm>
        </p:spPr>
        <p:txBody>
          <a:bodyPr>
            <a:normAutofit/>
          </a:bodyPr>
          <a:lstStyle/>
          <a:p>
            <a:r>
              <a:rPr lang="en-US" sz="3200"/>
              <a:t>Value Proposition vs. Competitors</a:t>
            </a:r>
          </a:p>
        </p:txBody>
      </p:sp>
      <p:sp>
        <p:nvSpPr>
          <p:cNvPr id="3" name="Slide Number Placeholder 2"/>
          <p:cNvSpPr>
            <a:spLocks noGrp="1"/>
          </p:cNvSpPr>
          <p:nvPr>
            <p:ph type="sldNum" sz="quarter" idx="10"/>
          </p:nvPr>
        </p:nvSpPr>
        <p:spPr/>
        <p:txBody>
          <a:bodyPr/>
          <a:lstStyle/>
          <a:p>
            <a:fld id="{B2A8A024-7FA9-44CB-9E5D-E14EA791726A}" type="slidenum">
              <a:rPr lang="en-US" smtClean="0">
                <a:solidFill>
                  <a:prstClr val="black">
                    <a:tint val="75000"/>
                  </a:prstClr>
                </a:solidFill>
              </a:rPr>
              <a:pPr/>
              <a:t>4</a:t>
            </a:fld>
            <a:endParaRPr lang="en-US">
              <a:solidFill>
                <a:prstClr val="black">
                  <a:tint val="75000"/>
                </a:prstClr>
              </a:solidFill>
            </a:endParaRPr>
          </a:p>
        </p:txBody>
      </p:sp>
      <p:sp>
        <p:nvSpPr>
          <p:cNvPr id="5" name="Rectangle 9"/>
          <p:cNvSpPr>
            <a:spLocks noChangeArrowheads="1"/>
          </p:cNvSpPr>
          <p:nvPr/>
        </p:nvSpPr>
        <p:spPr bwMode="auto">
          <a:xfrm>
            <a:off x="228600" y="1156578"/>
            <a:ext cx="8301037" cy="4708981"/>
          </a:xfrm>
          <a:prstGeom prst="rect">
            <a:avLst/>
          </a:prstGeom>
          <a:noFill/>
          <a:ln w="9525">
            <a:noFill/>
            <a:miter lim="800000"/>
            <a:headEnd/>
            <a:tailEnd/>
          </a:ln>
        </p:spPr>
        <p:txBody>
          <a:bodyPr wrap="square">
            <a:spAutoFit/>
          </a:bodyPr>
          <a:lstStyle/>
          <a:p>
            <a:pPr>
              <a:spcAft>
                <a:spcPts val="625"/>
              </a:spcAft>
            </a:pPr>
            <a:r>
              <a:rPr lang="en-US" sz="2000" b="1" dirty="0">
                <a:solidFill>
                  <a:srgbClr val="256800">
                    <a:lumMod val="50000"/>
                  </a:srgbClr>
                </a:solidFill>
                <a:latin typeface="Calibri"/>
              </a:rPr>
              <a:t>Base Pair’s value proposition versus its competitors has the following key components:</a:t>
            </a:r>
          </a:p>
          <a:p>
            <a:pPr marL="285704" indent="-285704">
              <a:spcAft>
                <a:spcPts val="625"/>
              </a:spcAft>
              <a:buAutoNum type="arabicPeriod"/>
            </a:pPr>
            <a:r>
              <a:rPr lang="en-US" sz="1500" b="1" u="sng" dirty="0">
                <a:latin typeface="Calibri"/>
              </a:rPr>
              <a:t>Collaboration</a:t>
            </a:r>
            <a:r>
              <a:rPr lang="en-US" sz="1500" dirty="0">
                <a:latin typeface="Calibri"/>
              </a:rPr>
              <a:t>.  Base Pair has a highly collaborative project design process, in which its scientists work closely with customers to tailor experimental designs to have the highest likelihood of success in meeting customer needs.</a:t>
            </a:r>
          </a:p>
          <a:p>
            <a:pPr marL="285704" indent="-285704">
              <a:spcAft>
                <a:spcPts val="625"/>
              </a:spcAft>
              <a:buAutoNum type="arabicPeriod"/>
            </a:pPr>
            <a:r>
              <a:rPr lang="en-US" sz="1500" b="1" u="sng" dirty="0">
                <a:latin typeface="Calibri"/>
              </a:rPr>
              <a:t>Flexibility</a:t>
            </a:r>
            <a:r>
              <a:rPr lang="en-US" sz="1500" dirty="0">
                <a:latin typeface="Calibri"/>
              </a:rPr>
              <a:t>.  Base Pair, unlike its competitors, is very flexible in the choice of libraries, choice of DNA versus RNA,  designing for expression in vivo versus in vitro use, project complexity, project design,  immobilization surface (beads, arrays, gels, etc.), matrix/sample type for binding and elution, amount of validation, etc.</a:t>
            </a:r>
          </a:p>
          <a:p>
            <a:pPr marL="285704" indent="-285704">
              <a:spcAft>
                <a:spcPts val="625"/>
              </a:spcAft>
              <a:buAutoNum type="arabicPeriod"/>
            </a:pPr>
            <a:r>
              <a:rPr lang="en-US" sz="1500" b="1" u="sng" dirty="0">
                <a:latin typeface="Calibri"/>
              </a:rPr>
              <a:t>Multiplexing</a:t>
            </a:r>
            <a:r>
              <a:rPr lang="en-US" sz="1500" dirty="0">
                <a:latin typeface="Calibri"/>
              </a:rPr>
              <a:t>.  Base Pair, unlike its competition, uses its patented method to perform SELEX in a true multiplex mode, including undesired targets along with desired targets in the immobilized as well as elution phase; de-convoluting data through bar-coding and next generation sequencing, facilitating lower per-aptamer pricing.</a:t>
            </a:r>
          </a:p>
          <a:p>
            <a:pPr marL="285704" indent="-285704">
              <a:spcAft>
                <a:spcPts val="625"/>
              </a:spcAft>
              <a:buAutoNum type="arabicPeriod"/>
            </a:pPr>
            <a:r>
              <a:rPr lang="en-US" sz="1500" b="1" u="sng" dirty="0">
                <a:latin typeface="Calibri"/>
              </a:rPr>
              <a:t>Accuracy</a:t>
            </a:r>
            <a:r>
              <a:rPr lang="en-US" sz="1500" dirty="0">
                <a:latin typeface="Calibri"/>
              </a:rPr>
              <a:t>.  Unlike its competitors, Base Pair has validated several unique approaches to affinity measurements, which provide more accurate results than surface plasmon resonance.  Surface plasmon resonance requires that one of the targets is immobilized, which perturbs the binding interaction.  Additionally, in the case of a large molecule binding to a small molecule, the method is inaccurate and unreliable.</a:t>
            </a:r>
          </a:p>
        </p:txBody>
      </p:sp>
    </p:spTree>
    <p:extLst>
      <p:ext uri="{BB962C8B-B14F-4D97-AF65-F5344CB8AC3E}">
        <p14:creationId xmlns:p14="http://schemas.microsoft.com/office/powerpoint/2010/main" val="49182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9" y="171677"/>
            <a:ext cx="6689035" cy="685800"/>
          </a:xfrm>
        </p:spPr>
        <p:txBody>
          <a:bodyPr>
            <a:noAutofit/>
          </a:bodyPr>
          <a:lstStyle/>
          <a:p>
            <a:r>
              <a:rPr lang="en-US" sz="3200"/>
              <a:t>Project Challenge &amp; Overall Strategy</a:t>
            </a:r>
          </a:p>
        </p:txBody>
      </p:sp>
      <p:sp>
        <p:nvSpPr>
          <p:cNvPr id="3" name="Slide Number Placeholder 2"/>
          <p:cNvSpPr>
            <a:spLocks noGrp="1"/>
          </p:cNvSpPr>
          <p:nvPr>
            <p:ph type="sldNum" sz="quarter" idx="10"/>
          </p:nvPr>
        </p:nvSpPr>
        <p:spPr/>
        <p:txBody>
          <a:bodyPr/>
          <a:lstStyle/>
          <a:p>
            <a:fld id="{B2A8A024-7FA9-44CB-9E5D-E14EA791726A}" type="slidenum">
              <a:rPr lang="en-US" smtClean="0">
                <a:solidFill>
                  <a:prstClr val="black">
                    <a:tint val="75000"/>
                  </a:prstClr>
                </a:solidFill>
              </a:rPr>
              <a:pPr/>
              <a:t>5</a:t>
            </a:fld>
            <a:endParaRPr lang="en-US">
              <a:solidFill>
                <a:prstClr val="black">
                  <a:tint val="75000"/>
                </a:prstClr>
              </a:solidFill>
            </a:endParaRPr>
          </a:p>
        </p:txBody>
      </p:sp>
      <p:sp>
        <p:nvSpPr>
          <p:cNvPr id="8" name="TextBox 7"/>
          <p:cNvSpPr txBox="1"/>
          <p:nvPr/>
        </p:nvSpPr>
        <p:spPr>
          <a:xfrm rot="10800000" flipH="1" flipV="1">
            <a:off x="146304" y="1165359"/>
            <a:ext cx="8851391" cy="1477328"/>
          </a:xfrm>
          <a:prstGeom prst="rect">
            <a:avLst/>
          </a:prstGeom>
          <a:noFill/>
        </p:spPr>
        <p:txBody>
          <a:bodyPr wrap="square" rtlCol="0">
            <a:spAutoFit/>
          </a:bodyPr>
          <a:lstStyle/>
          <a:p>
            <a:r>
              <a:rPr lang="en-US" b="1" u="sng" dirty="0">
                <a:latin typeface="+mn-lt"/>
              </a:rPr>
              <a:t>Challenge</a:t>
            </a:r>
            <a:r>
              <a:rPr lang="en-US" dirty="0">
                <a:latin typeface="+mn-lt"/>
              </a:rPr>
              <a:t>:  </a:t>
            </a:r>
            <a:r>
              <a:rPr lang="en-US" dirty="0" err="1">
                <a:latin typeface="+mn-lt"/>
              </a:rPr>
              <a:t>Dr. Macoska</a:t>
            </a:r>
            <a:r>
              <a:rPr lang="en-US" dirty="0">
                <a:latin typeface="+mn-lt"/>
              </a:rPr>
              <a:t>’s lab has shown that fibrillar collagen – the hallmark of tissue fibrosis – accumulates in the urine of men with lower urinary tract dysfunction, while controls show almost none. No non-invasive test for urinary tract fibrosis exists today, and the dye-based assay used to date (Sircol / Sirius Red) cannot be licensed for clinical use. </a:t>
            </a:r>
            <a:r>
              <a:rPr lang="en-US" dirty="0"/>
              <a:t>UMass Boston seeks a point-of-care reagent to quantify </a:t>
            </a:r>
            <a:r>
              <a:rPr lang="en-US" b="1" dirty="0">
                <a:solidFill>
                  <a:srgbClr val="FF0000"/>
                </a:solidFill>
              </a:rPr>
              <a:t>fibrillar collagen in urine.</a:t>
            </a:r>
          </a:p>
        </p:txBody>
      </p:sp>
      <p:sp>
        <p:nvSpPr>
          <p:cNvPr id="4" name="TextBox 3">
            <a:extLst>
              <a:ext uri="{FF2B5EF4-FFF2-40B4-BE49-F238E27FC236}">
                <a16:creationId xmlns:a16="http://schemas.microsoft.com/office/drawing/2014/main" id="{BD8F80BD-61D4-67F3-811A-9568ABEAAC33}"/>
              </a:ext>
            </a:extLst>
          </p:cNvPr>
          <p:cNvSpPr txBox="1"/>
          <p:nvPr/>
        </p:nvSpPr>
        <p:spPr>
          <a:xfrm rot="10800000" flipH="1" flipV="1">
            <a:off x="146305" y="2950570"/>
            <a:ext cx="8897681" cy="2862322"/>
          </a:xfrm>
          <a:prstGeom prst="rect">
            <a:avLst/>
          </a:prstGeom>
          <a:noFill/>
        </p:spPr>
        <p:txBody>
          <a:bodyPr wrap="square" rtlCol="0">
            <a:spAutoFit/>
          </a:bodyPr>
          <a:lstStyle/>
          <a:p>
            <a:r>
              <a:rPr lang="en-US" b="1" u="sng" dirty="0"/>
              <a:t>Strategy</a:t>
            </a:r>
            <a:r>
              <a:rPr lang="en-US" u="sng" dirty="0"/>
              <a:t>:</a:t>
            </a:r>
            <a:r>
              <a:rPr lang="en-US" dirty="0"/>
              <a:t>  Base Pair already holds an aptamer raised against the Gly-X-Y tripeptide repeat common to the fibrillar collagens (originally selected against a purified collagen reagent). Because aptamer binding can be matrix-dependent, the first objective is to confirm that this existing aptamer recognizes fibrillar collagen in urine and to determine its binding affinity (</a:t>
            </a:r>
            <a:r>
              <a:rPr lang="en-US" dirty="0" err="1"/>
              <a:t>K</a:t>
            </a:r>
            <a:r>
              <a:rPr lang="en-US" baseline="-25000" dirty="0"/>
              <a:t>D</a:t>
            </a:r>
            <a:r>
              <a:rPr lang="en-US" dirty="0"/>
              <a:t>) in that matrix. Collagen will be spiked into collagen-free / synthetic urine to establish a quantitative dose-response. If the existing aptamer binds with suitable affinity, Base Pair will advance it toward a quantitative point-of-care assay (e.g., electrochemical or lateral-flow format). If binding in urine is inadequate, Base Pair will perform a new SELEX campaign conducted directly in a </a:t>
            </a:r>
            <a:r>
              <a:rPr lang="en-US" b="1" dirty="0">
                <a:solidFill>
                  <a:srgbClr val="FF0000"/>
                </a:solidFill>
              </a:rPr>
              <a:t>urine matrix</a:t>
            </a:r>
            <a:r>
              <a:rPr lang="en-US" dirty="0"/>
              <a:t> to generate aptamers optimized for the urinary sample type, with counter-selection against off-targets defined with </a:t>
            </a:r>
            <a:r>
              <a:rPr lang="en-US" b="1" dirty="0">
                <a:solidFill>
                  <a:srgbClr val="FF0000"/>
                </a:solidFill>
              </a:rPr>
              <a:t>UMass Boston</a:t>
            </a:r>
            <a:r>
              <a:rPr lang="en-US" dirty="0"/>
              <a:t>.</a:t>
            </a:r>
          </a:p>
        </p:txBody>
      </p:sp>
    </p:spTree>
    <p:extLst>
      <p:ext uri="{BB962C8B-B14F-4D97-AF65-F5344CB8AC3E}">
        <p14:creationId xmlns:p14="http://schemas.microsoft.com/office/powerpoint/2010/main" val="2571615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826A-3F1F-3306-59B0-2876DDD52C6A}"/>
              </a:ext>
            </a:extLst>
          </p:cNvPr>
          <p:cNvSpPr>
            <a:spLocks noGrp="1"/>
          </p:cNvSpPr>
          <p:nvPr>
            <p:ph type="title"/>
          </p:nvPr>
        </p:nvSpPr>
        <p:spPr/>
        <p:txBody>
          <a:bodyPr/>
          <a:lstStyle/>
          <a:p>
            <a:r>
              <a:rPr lang="en-US" dirty="0"/>
              <a:t>Workflow overview</a:t>
            </a:r>
          </a:p>
        </p:txBody>
      </p:sp>
      <p:sp>
        <p:nvSpPr>
          <p:cNvPr id="3" name="TextBox 2">
            <a:extLst>
              <a:ext uri="{FF2B5EF4-FFF2-40B4-BE49-F238E27FC236}">
                <a16:creationId xmlns:a16="http://schemas.microsoft.com/office/drawing/2014/main" id="{758BC62F-D7D5-7794-F5DD-F8929F654338}"/>
              </a:ext>
            </a:extLst>
          </p:cNvPr>
          <p:cNvSpPr txBox="1"/>
          <p:nvPr/>
        </p:nvSpPr>
        <p:spPr>
          <a:xfrm rot="10800000" flipH="1" flipV="1">
            <a:off x="228600" y="1002707"/>
            <a:ext cx="8689258" cy="5078313"/>
          </a:xfrm>
          <a:prstGeom prst="rect">
            <a:avLst/>
          </a:prstGeom>
          <a:noFill/>
        </p:spPr>
        <p:txBody>
          <a:bodyPr wrap="square" rtlCol="0">
            <a:normAutofit fontScale="97500"/>
          </a:bodyPr>
          <a:lstStyle/>
          <a:p>
            <a:pPr marL="285750" indent="-285750">
              <a:buFontTx/>
              <a:buChar char="-"/>
            </a:pPr>
            <a:r>
              <a:rPr lang="en-US" sz="1600" dirty="0"/>
              <a:t>Obtain the existing anti-collagen aptamer, a purified fibrillar-collagen reagent, and collagen-free / synthetic urine</a:t>
            </a:r>
          </a:p>
          <a:p>
            <a:pPr marL="285750" indent="-285750">
              <a:buFontTx/>
              <a:buChar char="-"/>
            </a:pPr>
            <a:endParaRPr lang="en-US" sz="1600" dirty="0"/>
          </a:p>
          <a:p>
            <a:pPr marL="285750" indent="-285750">
              <a:buFontTx/>
              <a:buChar char="-"/>
            </a:pPr>
            <a:r>
              <a:rPr lang="en-US" sz="1600" b="1" dirty="0"/>
              <a:t>Phase 1 – </a:t>
            </a:r>
            <a:r>
              <a:rPr lang="en-US" sz="1600" dirty="0"/>
              <a:t>Test the existing aptamer for binding to fibrillar collagen in urine and determine its binding affinity (K</a:t>
            </a:r>
            <a:r>
              <a:rPr lang="en-US" sz="1600" baseline="-25000" dirty="0"/>
              <a:t>D</a:t>
            </a:r>
            <a:r>
              <a:rPr lang="en-US" sz="1600" dirty="0"/>
              <a:t>) using collagen spiked into urine</a:t>
            </a:r>
          </a:p>
          <a:p>
            <a:pPr marL="285750" indent="-285750">
              <a:buFontTx/>
              <a:buChar char="-"/>
            </a:pPr>
            <a:endParaRPr lang="en-US" sz="1600" dirty="0"/>
          </a:p>
          <a:p>
            <a:pPr marL="285750" indent="-285750">
              <a:buFontTx/>
              <a:buChar char="-"/>
            </a:pPr>
            <a:r>
              <a:rPr lang="en-US" sz="1600" dirty="0"/>
              <a:t>Establish a quantitative dose-response across spiked collagen concentrations</a:t>
            </a:r>
          </a:p>
          <a:p>
            <a:pPr marL="742950" lvl="1" indent="-285750">
              <a:buFontTx/>
              <a:buChar char="-"/>
            </a:pPr>
            <a:r>
              <a:rPr lang="en-US" sz="1600" dirty="0"/>
              <a:t>Confirm specificity against urine background and assess assay window vs. clinical collagen levels</a:t>
            </a:r>
          </a:p>
          <a:p>
            <a:pPr marL="285750" indent="-285750">
              <a:buFontTx/>
              <a:buChar char="-"/>
            </a:pPr>
            <a:endParaRPr lang="en-US" sz="1600" dirty="0"/>
          </a:p>
          <a:p>
            <a:pPr marL="285750" indent="-285750">
              <a:buFontTx/>
              <a:buChar char="-"/>
            </a:pPr>
            <a:r>
              <a:rPr lang="en-US" sz="1600" b="1" dirty="0"/>
              <a:t>Phase 2 (if needed) – </a:t>
            </a:r>
            <a:r>
              <a:rPr lang="en-US" sz="1600" dirty="0"/>
              <a:t>Perform a new SELEX campaign directly in a urine matrix to generate aptamers optimized for urine, with counter-selection against off-targets</a:t>
            </a:r>
          </a:p>
          <a:p>
            <a:pPr marL="285750" indent="-285750">
              <a:buFontTx/>
              <a:buChar char="-"/>
            </a:pPr>
            <a:endParaRPr lang="en-US" sz="1600" dirty="0"/>
          </a:p>
          <a:p>
            <a:pPr marL="285750" indent="-285750">
              <a:buFontTx/>
              <a:buChar char="-"/>
            </a:pPr>
            <a:r>
              <a:rPr lang="en-US" sz="1600" dirty="0"/>
              <a:t>Screen and rank candidates by NGS; complete K</a:t>
            </a:r>
            <a:r>
              <a:rPr lang="en-US" sz="1600" baseline="-25000" dirty="0"/>
              <a:t>D</a:t>
            </a:r>
            <a:r>
              <a:rPr lang="en-US" sz="1600" dirty="0"/>
              <a:t> determination of best candidates via </a:t>
            </a:r>
            <a:r>
              <a:rPr lang="en-US" sz="1600" dirty="0" err="1"/>
              <a:t>MicroScale</a:t>
            </a:r>
            <a:r>
              <a:rPr lang="en-US" sz="1600" dirty="0"/>
              <a:t> Thermophoresis (MST) or another appropriate method</a:t>
            </a:r>
          </a:p>
          <a:p>
            <a:pPr marL="285750" indent="-285750">
              <a:buFontTx/>
              <a:buChar char="-"/>
            </a:pPr>
            <a:endParaRPr lang="en-US" sz="1600" dirty="0"/>
          </a:p>
          <a:p>
            <a:pPr marL="285750" indent="-285750">
              <a:buFontTx/>
              <a:buChar char="-"/>
            </a:pPr>
            <a:r>
              <a:rPr lang="en-US" sz="1600" dirty="0"/>
              <a:t>Synthesize sample aptamer materials for point-of-care assay development by UMass Boston (electrochemical or lateral-flow format)*</a:t>
            </a:r>
          </a:p>
          <a:p>
            <a:endParaRPr lang="en-US" sz="1600" dirty="0"/>
          </a:p>
          <a:p>
            <a:r>
              <a:rPr lang="en-US" sz="1600" dirty="0"/>
              <a:t>* </a:t>
            </a:r>
            <a:r>
              <a:rPr lang="en-US" sz="1600" i="1" dirty="0"/>
              <a:t>Phase 2 SELEX and any large-scale synthesis are scoped and quoted separately.</a:t>
            </a:r>
          </a:p>
        </p:txBody>
      </p:sp>
      <p:sp>
        <p:nvSpPr>
          <p:cNvPr id="4" name="Slide Number Placeholder 3">
            <a:extLst>
              <a:ext uri="{FF2B5EF4-FFF2-40B4-BE49-F238E27FC236}">
                <a16:creationId xmlns:a16="http://schemas.microsoft.com/office/drawing/2014/main" id="{5C955BA4-810B-D94F-68D3-DD060E40CBE2}"/>
              </a:ext>
            </a:extLst>
          </p:cNvPr>
          <p:cNvSpPr>
            <a:spLocks noGrp="1"/>
          </p:cNvSpPr>
          <p:nvPr>
            <p:ph type="sldNum" sz="quarter" idx="10"/>
          </p:nvPr>
        </p:nvSpPr>
        <p:spPr/>
        <p:txBody>
          <a:bodyPr/>
          <a:lstStyle/>
          <a:p>
            <a:fld id="{B2A8A024-7FA9-44CB-9E5D-E14EA791726A}" type="slidenum">
              <a:rPr lang="en-US" smtClean="0">
                <a:solidFill>
                  <a:prstClr val="black">
                    <a:tint val="75000"/>
                  </a:prstClr>
                </a:solidFill>
              </a:rPr>
              <a:pPr/>
              <a:t>6</a:t>
            </a:fld>
            <a:endParaRPr lang="en-US">
              <a:solidFill>
                <a:prstClr val="black">
                  <a:tint val="75000"/>
                </a:prstClr>
              </a:solidFill>
            </a:endParaRPr>
          </a:p>
        </p:txBody>
      </p:sp>
    </p:spTree>
    <p:extLst>
      <p:ext uri="{BB962C8B-B14F-4D97-AF65-F5344CB8AC3E}">
        <p14:creationId xmlns:p14="http://schemas.microsoft.com/office/powerpoint/2010/main" val="2590191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2EDC1-D5C9-2399-B37B-B24D7A7AD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E0B51-3E78-B7CD-2400-28F0CFEB6437}"/>
              </a:ext>
            </a:extLst>
          </p:cNvPr>
          <p:cNvSpPr>
            <a:spLocks noGrp="1"/>
          </p:cNvSpPr>
          <p:nvPr>
            <p:ph type="title"/>
          </p:nvPr>
        </p:nvSpPr>
        <p:spPr>
          <a:xfrm>
            <a:off x="132522" y="236257"/>
            <a:ext cx="8805001" cy="685800"/>
          </a:xfrm>
        </p:spPr>
        <p:txBody>
          <a:bodyPr>
            <a:noAutofit/>
          </a:bodyPr>
          <a:lstStyle/>
          <a:p>
            <a:r>
              <a:rPr lang="en-US" sz="2800" dirty="0"/>
              <a:t>Timeline and Milestones – Phase 1 Feasibility</a:t>
            </a:r>
          </a:p>
        </p:txBody>
      </p:sp>
      <p:sp>
        <p:nvSpPr>
          <p:cNvPr id="3" name="Slide Number Placeholder 2">
            <a:extLst>
              <a:ext uri="{FF2B5EF4-FFF2-40B4-BE49-F238E27FC236}">
                <a16:creationId xmlns:a16="http://schemas.microsoft.com/office/drawing/2014/main" id="{11E9FF72-F8B5-1EB7-F782-A572243969B2}"/>
              </a:ext>
            </a:extLst>
          </p:cNvPr>
          <p:cNvSpPr>
            <a:spLocks noGrp="1"/>
          </p:cNvSpPr>
          <p:nvPr>
            <p:ph type="sldNum" sz="quarter" idx="10"/>
          </p:nvPr>
        </p:nvSpPr>
        <p:spPr/>
        <p:txBody>
          <a:bodyPr/>
          <a:lstStyle/>
          <a:p>
            <a:fld id="{B2A8A024-7FA9-44CB-9E5D-E14EA791726A}" type="slidenum">
              <a:rPr lang="en-US" smtClean="0">
                <a:solidFill>
                  <a:prstClr val="black">
                    <a:tint val="75000"/>
                  </a:prstClr>
                </a:solidFill>
              </a:rPr>
              <a:pPr/>
              <a:t>7</a:t>
            </a:fld>
            <a:endParaRPr lang="en-US">
              <a:solidFill>
                <a:prstClr val="black">
                  <a:tint val="75000"/>
                </a:prstClr>
              </a:solidFill>
            </a:endParaRPr>
          </a:p>
        </p:txBody>
      </p:sp>
      <p:sp>
        <p:nvSpPr>
          <p:cNvPr id="13" name="Title 1">
            <a:extLst>
              <a:ext uri="{FF2B5EF4-FFF2-40B4-BE49-F238E27FC236}">
                <a16:creationId xmlns:a16="http://schemas.microsoft.com/office/drawing/2014/main" id="{8072F566-071E-7334-0749-1F8D830344FE}"/>
              </a:ext>
            </a:extLst>
          </p:cNvPr>
          <p:cNvSpPr txBox="1">
            <a:spLocks/>
          </p:cNvSpPr>
          <p:nvPr/>
        </p:nvSpPr>
        <p:spPr>
          <a:xfrm>
            <a:off x="204907" y="1018116"/>
            <a:ext cx="8429386" cy="342896"/>
          </a:xfrm>
          <a:prstGeom prst="rect">
            <a:avLst/>
          </a:prstGeom>
        </p:spPr>
        <p:txBody>
          <a:bodyPr>
            <a:noAutofit/>
          </a:bodyPr>
          <a:lstStyle>
            <a:lvl1pPr algn="l" defTabSz="3840480" rtl="0" eaLnBrk="1" latinLnBrk="0" hangingPunct="1">
              <a:spcBef>
                <a:spcPct val="0"/>
              </a:spcBef>
              <a:buNone/>
              <a:defRPr sz="11760" b="1" kern="1200">
                <a:solidFill>
                  <a:srgbClr val="256800"/>
                </a:solidFill>
                <a:latin typeface="+mj-lt"/>
                <a:ea typeface="+mj-ea"/>
                <a:cs typeface="+mj-cs"/>
              </a:defRPr>
            </a:lvl1pPr>
          </a:lstStyle>
          <a:p>
            <a:r>
              <a:rPr lang="en-US" sz="1800" dirty="0">
                <a:solidFill>
                  <a:schemeClr val="tx1"/>
                </a:solidFill>
              </a:rPr>
              <a:t>Timeline:       ~</a:t>
            </a:r>
            <a:r>
              <a:rPr lang="en-US" sz="1800" i="1" dirty="0">
                <a:solidFill>
                  <a:schemeClr val="tx1"/>
                </a:solidFill>
              </a:rPr>
              <a:t>6–9 weeks from receipt of materials</a:t>
            </a:r>
          </a:p>
        </p:txBody>
      </p:sp>
      <p:graphicFrame>
        <p:nvGraphicFramePr>
          <p:cNvPr id="20" name="Table 19">
            <a:extLst>
              <a:ext uri="{FF2B5EF4-FFF2-40B4-BE49-F238E27FC236}">
                <a16:creationId xmlns:a16="http://schemas.microsoft.com/office/drawing/2014/main" id="{C6521A53-A73D-0BEF-7882-92E80C00BAEA}"/>
              </a:ext>
            </a:extLst>
          </p:cNvPr>
          <p:cNvGraphicFramePr>
            <a:graphicFrameLocks noGrp="1"/>
          </p:cNvGraphicFramePr>
          <p:nvPr>
            <p:extLst>
              <p:ext uri="{D42A27DB-BD31-4B8C-83A1-F6EECF244321}">
                <p14:modId xmlns:p14="http://schemas.microsoft.com/office/powerpoint/2010/main" val="2380600394"/>
              </p:ext>
            </p:extLst>
          </p:nvPr>
        </p:nvGraphicFramePr>
        <p:xfrm>
          <a:off x="320329" y="2540660"/>
          <a:ext cx="8429386" cy="2965725"/>
        </p:xfrm>
        <a:graphic>
          <a:graphicData uri="http://schemas.openxmlformats.org/drawingml/2006/table">
            <a:tbl>
              <a:tblPr firstRow="1" bandRow="1">
                <a:tableStyleId>{5C22544A-7EE6-4342-B048-85BDC9FD1C3A}</a:tableStyleId>
              </a:tblPr>
              <a:tblGrid>
                <a:gridCol w="2102831">
                  <a:extLst>
                    <a:ext uri="{9D8B030D-6E8A-4147-A177-3AD203B41FA5}">
                      <a16:colId xmlns:a16="http://schemas.microsoft.com/office/drawing/2014/main" val="3731439963"/>
                    </a:ext>
                  </a:extLst>
                </a:gridCol>
                <a:gridCol w="1801368">
                  <a:extLst>
                    <a:ext uri="{9D8B030D-6E8A-4147-A177-3AD203B41FA5}">
                      <a16:colId xmlns:a16="http://schemas.microsoft.com/office/drawing/2014/main" val="171494485"/>
                    </a:ext>
                  </a:extLst>
                </a:gridCol>
                <a:gridCol w="4525187">
                  <a:extLst>
                    <a:ext uri="{9D8B030D-6E8A-4147-A177-3AD203B41FA5}">
                      <a16:colId xmlns:a16="http://schemas.microsoft.com/office/drawing/2014/main" val="3624194335"/>
                    </a:ext>
                  </a:extLst>
                </a:gridCol>
              </a:tblGrid>
              <a:tr h="293128">
                <a:tc>
                  <a:txBody>
                    <a:bodyPr/>
                    <a:lstStyle/>
                    <a:p>
                      <a:r>
                        <a:rPr lang="en-US" sz="1400" dirty="0">
                          <a:solidFill>
                            <a:schemeClr val="tx1"/>
                          </a:solidFill>
                          <a:latin typeface="+mn-lt"/>
                        </a:rPr>
                        <a:t>Milestone</a:t>
                      </a:r>
                    </a:p>
                  </a:txBody>
                  <a:tcPr marL="19050" marR="19050" marT="9525" marB="9525" anchor="ctr"/>
                </a:tc>
                <a:tc>
                  <a:txBody>
                    <a:bodyPr/>
                    <a:lstStyle/>
                    <a:p>
                      <a:pPr algn="ctr"/>
                      <a:r>
                        <a:rPr lang="en-US" sz="1400" dirty="0">
                          <a:solidFill>
                            <a:schemeClr val="tx1"/>
                          </a:solidFill>
                          <a:latin typeface="+mn-lt"/>
                        </a:rPr>
                        <a:t>Pricing (USD)</a:t>
                      </a:r>
                    </a:p>
                  </a:txBody>
                  <a:tcPr marL="19050" marR="19050" marT="9525" marB="9525" anchor="ctr"/>
                </a:tc>
                <a:tc>
                  <a:txBody>
                    <a:bodyPr/>
                    <a:lstStyle/>
                    <a:p>
                      <a:r>
                        <a:rPr lang="en-US" sz="1400" dirty="0">
                          <a:solidFill>
                            <a:schemeClr val="tx1"/>
                          </a:solidFill>
                          <a:latin typeface="+mn-lt"/>
                        </a:rPr>
                        <a:t>Payment Terms</a:t>
                      </a:r>
                    </a:p>
                  </a:txBody>
                  <a:tcPr marL="19050" marR="19050" marT="9525" marB="9525" anchor="ctr"/>
                </a:tc>
                <a:extLst>
                  <a:ext uri="{0D108BD9-81ED-4DB2-BD59-A6C34878D82A}">
                    <a16:rowId xmlns:a16="http://schemas.microsoft.com/office/drawing/2014/main" val="3348666304"/>
                  </a:ext>
                </a:extLst>
              </a:tr>
              <a:tr h="389208">
                <a:tc>
                  <a:txBody>
                    <a:bodyPr/>
                    <a:lstStyle/>
                    <a:p>
                      <a:r>
                        <a:rPr lang="en-US" sz="1400" dirty="0">
                          <a:latin typeface="+mn-lt"/>
                        </a:rPr>
                        <a:t>Project Initiation &amp; Materials</a:t>
                      </a:r>
                    </a:p>
                  </a:txBody>
                  <a:tcPr marL="19050" marR="19050" marT="9525" marB="9525" anchor="ctr"/>
                </a:tc>
                <a:tc>
                  <a:txBody>
                    <a:bodyPr/>
                    <a:lstStyle/>
                    <a:p>
                      <a:pPr algn="ctr" rtl="0" fontAlgn="ctr">
                        <a:buNone/>
                      </a:pPr>
                      <a:r>
                        <a:rPr lang="en-US" sz="1400" b="0" i="0" u="none" strike="noStrike" dirty="0">
                          <a:solidFill>
                            <a:schemeClr val="tx1"/>
                          </a:solidFill>
                          <a:effectLst/>
                          <a:latin typeface="+mn-lt"/>
                        </a:rPr>
                        <a:t>$2,500</a:t>
                      </a:r>
                      <a:endParaRPr lang="en-US" sz="1400" b="1" i="0" u="none" strike="noStrike" baseline="30000" dirty="0">
                        <a:solidFill>
                          <a:schemeClr val="tx1"/>
                        </a:solidFill>
                        <a:effectLst/>
                        <a:latin typeface="+mn-lt"/>
                      </a:endParaRPr>
                    </a:p>
                  </a:txBody>
                  <a:tcPr marL="7620" marR="7620" marT="7620" marB="0" anchor="ctr"/>
                </a:tc>
                <a:tc>
                  <a:txBody>
                    <a:bodyPr/>
                    <a:lstStyle/>
                    <a:p>
                      <a:r>
                        <a:rPr lang="en-US" sz="1400" dirty="0">
                          <a:latin typeface="+mn-lt"/>
                        </a:rPr>
                        <a:t>Due upon execution of </a:t>
                      </a:r>
                      <a:r>
                        <a:rPr lang="en-US" sz="1400" baseline="0" dirty="0">
                          <a:latin typeface="+mn-lt"/>
                        </a:rPr>
                        <a:t>the Aptamer Development Agreement.</a:t>
                      </a:r>
                      <a:endParaRPr lang="en-US" sz="1400" dirty="0">
                        <a:latin typeface="+mn-lt"/>
                      </a:endParaRPr>
                    </a:p>
                  </a:txBody>
                  <a:tcPr marL="19050" marR="19050" marT="9525" marB="9525" anchor="ctr"/>
                </a:tc>
                <a:extLst>
                  <a:ext uri="{0D108BD9-81ED-4DB2-BD59-A6C34878D82A}">
                    <a16:rowId xmlns:a16="http://schemas.microsoft.com/office/drawing/2014/main" val="2416049731"/>
                  </a:ext>
                </a:extLst>
              </a:tr>
              <a:tr h="562228">
                <a:tc>
                  <a:txBody>
                    <a:bodyPr/>
                    <a:lstStyle/>
                    <a:p>
                      <a:r>
                        <a:rPr lang="en-US" sz="1400" dirty="0">
                          <a:latin typeface="+mn-lt"/>
                        </a:rPr>
                        <a:t>Aptamer Binding Test in Urine (yes/no ranging </a:t>
                      </a:r>
                      <a:r>
                        <a:rPr lang="en-US" sz="1400" dirty="0" err="1">
                          <a:latin typeface="+mn-lt"/>
                        </a:rPr>
                        <a:t>expt</a:t>
                      </a:r>
                      <a:r>
                        <a:rPr lang="en-US" sz="1400" dirty="0">
                          <a:latin typeface="+mn-lt"/>
                        </a:rPr>
                        <a:t>)</a:t>
                      </a:r>
                    </a:p>
                  </a:txBody>
                  <a:tcPr marL="19050" marR="19050" marT="9525" marB="9525" anchor="ctr"/>
                </a:tc>
                <a:tc>
                  <a:txBody>
                    <a:bodyPr/>
                    <a:lstStyle/>
                    <a:p>
                      <a:pPr algn="ctr" rtl="0" fontAlgn="ctr">
                        <a:buNone/>
                      </a:pPr>
                      <a:r>
                        <a:rPr lang="en-US" sz="1400" b="0" i="0" u="none" strike="noStrike" dirty="0">
                          <a:solidFill>
                            <a:schemeClr val="tx1"/>
                          </a:solidFill>
                          <a:effectLst/>
                          <a:latin typeface="+mn-lt"/>
                        </a:rPr>
                        <a:t>$1,500</a:t>
                      </a:r>
                    </a:p>
                  </a:txBody>
                  <a:tcPr marL="7620" marR="7620" marT="7620" marB="0" anchor="ctr"/>
                </a:tc>
                <a:tc>
                  <a:txBody>
                    <a:bodyPr/>
                    <a:lstStyle/>
                    <a:p>
                      <a:r>
                        <a:rPr lang="en-US" sz="1400" dirty="0">
                          <a:latin typeface="+mn-lt"/>
                        </a:rPr>
                        <a:t>Due within 30 days of Base Pair reporting binding results.</a:t>
                      </a:r>
                    </a:p>
                  </a:txBody>
                  <a:tcPr marL="19050" marR="19050" marT="9525" marB="9525" anchor="ctr"/>
                </a:tc>
                <a:extLst>
                  <a:ext uri="{0D108BD9-81ED-4DB2-BD59-A6C34878D82A}">
                    <a16:rowId xmlns:a16="http://schemas.microsoft.com/office/drawing/2014/main" val="3394793229"/>
                  </a:ext>
                </a:extLst>
              </a:tr>
              <a:tr h="754461">
                <a:tc>
                  <a:txBody>
                    <a:bodyPr/>
                    <a:lstStyle/>
                    <a:p>
                      <a:r>
                        <a:rPr lang="en-US" sz="1400" dirty="0">
                          <a:latin typeface="+mn-lt"/>
                        </a:rPr>
                        <a:t>K</a:t>
                      </a:r>
                      <a:r>
                        <a:rPr lang="en-US" sz="1400" baseline="-25000" dirty="0">
                          <a:latin typeface="+mn-lt"/>
                        </a:rPr>
                        <a:t>D</a:t>
                      </a:r>
                      <a:r>
                        <a:rPr lang="en-US" sz="1400" dirty="0">
                          <a:latin typeface="+mn-lt"/>
                        </a:rPr>
                        <a:t> Determination &amp; Dose-Response in Urine</a:t>
                      </a:r>
                    </a:p>
                  </a:txBody>
                  <a:tcPr marL="19050" marR="19050" marT="9525" marB="9525" anchor="ctr"/>
                </a:tc>
                <a:tc>
                  <a:txBody>
                    <a:bodyPr/>
                    <a:lstStyle/>
                    <a:p>
                      <a:pPr algn="ctr" rtl="0" fontAlgn="ctr">
                        <a:buNone/>
                      </a:pPr>
                      <a:r>
                        <a:rPr lang="en-US" sz="1400" b="0" i="0" u="none" strike="noStrike" dirty="0">
                          <a:solidFill>
                            <a:schemeClr val="tx1"/>
                          </a:solidFill>
                          <a:effectLst/>
                          <a:latin typeface="+mn-lt"/>
                        </a:rPr>
                        <a:t>$4,500</a:t>
                      </a:r>
                    </a:p>
                  </a:txBody>
                  <a:tcPr marL="7620" marR="7620" marT="7620" marB="0" anchor="ctr"/>
                </a:tc>
                <a:tc>
                  <a:txBody>
                    <a:bodyPr/>
                    <a:lstStyle/>
                    <a:p>
                      <a:r>
                        <a:rPr lang="en-US" sz="1400" dirty="0">
                          <a:latin typeface="+mn-lt"/>
                        </a:rPr>
                        <a:t>Due within 30 days of delivery of the Binding / K</a:t>
                      </a:r>
                      <a:r>
                        <a:rPr lang="en-US" sz="1400" baseline="-25000" dirty="0">
                          <a:latin typeface="+mn-lt"/>
                        </a:rPr>
                        <a:t>D</a:t>
                      </a:r>
                      <a:r>
                        <a:rPr lang="en-US" sz="1400" dirty="0">
                          <a:latin typeface="+mn-lt"/>
                        </a:rPr>
                        <a:t> report.</a:t>
                      </a:r>
                    </a:p>
                  </a:txBody>
                  <a:tcPr marL="19050" marR="19050" marT="9525" marB="9525" anchor="ctr"/>
                </a:tc>
                <a:extLst>
                  <a:ext uri="{0D108BD9-81ED-4DB2-BD59-A6C34878D82A}">
                    <a16:rowId xmlns:a16="http://schemas.microsoft.com/office/drawing/2014/main" val="2067919000"/>
                  </a:ext>
                </a:extLst>
              </a:tr>
              <a:tr h="564151">
                <a:tc>
                  <a:txBody>
                    <a:bodyPr/>
                    <a:lstStyle/>
                    <a:p>
                      <a:pPr algn="l"/>
                      <a:r>
                        <a:rPr lang="en-US" sz="1400" b="0" dirty="0">
                          <a:latin typeface="+mn-lt"/>
                        </a:rPr>
                        <a:t>Sample Aptamer Synthesis for Assay Development</a:t>
                      </a:r>
                      <a:endParaRPr lang="en-US" sz="1400" b="1" dirty="0">
                        <a:latin typeface="+mn-lt"/>
                      </a:endParaRPr>
                    </a:p>
                  </a:txBody>
                  <a:tcPr marL="19050" marR="19050"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$1,400</a:t>
                      </a:r>
                    </a:p>
                  </a:txBody>
                  <a:tcPr marL="19050" marR="19050" marT="9525" marB="9525" anchor="ctr"/>
                </a:tc>
                <a:tc>
                  <a:txBody>
                    <a:bodyPr/>
                    <a:lstStyle/>
                    <a:p>
                      <a:r>
                        <a:rPr lang="en-US" sz="1400" dirty="0">
                          <a:latin typeface="+mn-lt"/>
                        </a:rPr>
                        <a:t>Due within 30 days of shipment of sample materials.</a:t>
                      </a:r>
                    </a:p>
                  </a:txBody>
                  <a:tcPr marL="19050" marR="19050" marT="9525" marB="9525" anchor="ctr"/>
                </a:tc>
                <a:extLst>
                  <a:ext uri="{0D108BD9-81ED-4DB2-BD59-A6C34878D82A}">
                    <a16:rowId xmlns:a16="http://schemas.microsoft.com/office/drawing/2014/main" val="724026510"/>
                  </a:ext>
                </a:extLst>
              </a:tr>
              <a:tr h="345987">
                <a:tc>
                  <a:txBody>
                    <a:bodyPr/>
                    <a:lstStyle/>
                    <a:p>
                      <a:pPr algn="r"/>
                      <a:r>
                        <a:rPr lang="en-US" sz="1400" b="1" dirty="0">
                          <a:latin typeface="+mn-lt"/>
                        </a:rPr>
                        <a:t>TOTAL</a:t>
                      </a:r>
                    </a:p>
                  </a:txBody>
                  <a:tcPr marL="19050" marR="19050" marT="9525" marB="95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mn-lt"/>
                          <a:ea typeface="+mn-ea"/>
                          <a:cs typeface="+mn-cs"/>
                        </a:rPr>
                        <a:t>$9,900*</a:t>
                      </a:r>
                    </a:p>
                  </a:txBody>
                  <a:tcPr marL="19050" marR="19050" marT="9525" marB="9525" anchor="ctr"/>
                </a:tc>
                <a:tc>
                  <a:txBody>
                    <a:bodyPr/>
                    <a:lstStyle/>
                    <a:p>
                      <a:endParaRPr lang="en-US" sz="1400" dirty="0">
                        <a:latin typeface="+mn-lt"/>
                      </a:endParaRPr>
                    </a:p>
                  </a:txBody>
                  <a:tcPr marL="19050" marR="19050" marT="9525" marB="9525" anchor="ctr"/>
                </a:tc>
                <a:extLst>
                  <a:ext uri="{0D108BD9-81ED-4DB2-BD59-A6C34878D82A}">
                    <a16:rowId xmlns:a16="http://schemas.microsoft.com/office/drawing/2014/main" val="1614412267"/>
                  </a:ext>
                </a:extLst>
              </a:tr>
            </a:tbl>
          </a:graphicData>
        </a:graphic>
      </p:graphicFrame>
      <p:sp>
        <p:nvSpPr>
          <p:cNvPr id="31" name="Step 1"/>
          <p:cNvSpPr/>
          <p:nvPr/>
        </p:nvSpPr>
        <p:spPr>
          <a:xfrm>
            <a:off x="474979" y="1457072"/>
            <a:ext cx="1838664" cy="746202"/>
          </a:xfrm>
          <a:prstGeom prst="roundRect">
            <a:avLst>
              <a:gd name="adj" fmla="val 12000"/>
            </a:avLst>
          </a:prstGeom>
          <a:solidFill>
            <a:srgbClr val="5B9BD5"/>
          </a:solidFill>
          <a:ln>
            <a:noFill/>
          </a:ln>
        </p:spPr>
        <p:txBody>
          <a:bodyPr rtlCol="0" anchor="ctr">
            <a:normAutofit/>
          </a:bodyPr>
          <a:lstStyle/>
          <a:p>
            <a:pPr algn="ctr"/>
            <a:r>
              <a:rPr lang="en-US" sz="1200" b="1" dirty="0">
                <a:solidFill>
                  <a:schemeClr val="bg1"/>
                </a:solidFill>
              </a:rPr>
              <a:t>Obtain materials</a:t>
            </a:r>
          </a:p>
          <a:p>
            <a:pPr algn="ctr"/>
            <a:r>
              <a:rPr lang="en-US" sz="1000" i="1" dirty="0">
                <a:solidFill>
                  <a:schemeClr val="bg1"/>
                </a:solidFill>
              </a:rPr>
              <a:t>~1 week</a:t>
            </a:r>
          </a:p>
        </p:txBody>
      </p:sp>
      <p:sp>
        <p:nvSpPr>
          <p:cNvPr id="32" name="Step 2"/>
          <p:cNvSpPr/>
          <p:nvPr/>
        </p:nvSpPr>
        <p:spPr>
          <a:xfrm>
            <a:off x="2513643" y="1457072"/>
            <a:ext cx="1838664" cy="746202"/>
          </a:xfrm>
          <a:prstGeom prst="roundRect">
            <a:avLst>
              <a:gd name="adj" fmla="val 12000"/>
            </a:avLst>
          </a:prstGeom>
          <a:solidFill>
            <a:srgbClr val="5B9BD5"/>
          </a:solidFill>
          <a:ln>
            <a:noFill/>
          </a:ln>
        </p:spPr>
        <p:txBody>
          <a:bodyPr rtlCol="0" anchor="ctr">
            <a:normAutofit/>
          </a:bodyPr>
          <a:lstStyle/>
          <a:p>
            <a:pPr algn="ctr"/>
            <a:r>
              <a:rPr lang="en-US" sz="1200" b="1" dirty="0">
                <a:solidFill>
                  <a:schemeClr val="bg1"/>
                </a:solidFill>
              </a:rPr>
              <a:t>Binding test in urine</a:t>
            </a:r>
          </a:p>
          <a:p>
            <a:pPr algn="ctr"/>
            <a:r>
              <a:rPr lang="en-US" sz="1000" i="1" dirty="0">
                <a:solidFill>
                  <a:schemeClr val="bg1"/>
                </a:solidFill>
              </a:rPr>
              <a:t>~1–2 weeks</a:t>
            </a:r>
          </a:p>
        </p:txBody>
      </p:sp>
      <p:sp>
        <p:nvSpPr>
          <p:cNvPr id="33" name="Step 3"/>
          <p:cNvSpPr/>
          <p:nvPr/>
        </p:nvSpPr>
        <p:spPr>
          <a:xfrm>
            <a:off x="4552307" y="1457072"/>
            <a:ext cx="1838664" cy="746202"/>
          </a:xfrm>
          <a:prstGeom prst="roundRect">
            <a:avLst>
              <a:gd name="adj" fmla="val 12000"/>
            </a:avLst>
          </a:prstGeom>
          <a:solidFill>
            <a:srgbClr val="5B9BD5"/>
          </a:solidFill>
          <a:ln>
            <a:noFill/>
          </a:ln>
        </p:spPr>
        <p:txBody>
          <a:bodyPr rtlCol="0" anchor="ctr">
            <a:normAutofit/>
          </a:bodyPr>
          <a:lstStyle/>
          <a:p>
            <a:pPr algn="ctr"/>
            <a:r>
              <a:rPr lang="en-US" sz="1200" b="1" dirty="0">
                <a:solidFill>
                  <a:schemeClr val="bg1"/>
                </a:solidFill>
              </a:rPr>
              <a:t>K</a:t>
            </a:r>
            <a:r>
              <a:rPr lang="en-US" sz="1200" b="1" baseline="-25000" dirty="0">
                <a:solidFill>
                  <a:schemeClr val="bg1"/>
                </a:solidFill>
              </a:rPr>
              <a:t>D</a:t>
            </a:r>
            <a:r>
              <a:rPr lang="en-US" sz="1200" b="1" dirty="0">
                <a:solidFill>
                  <a:schemeClr val="bg1"/>
                </a:solidFill>
              </a:rPr>
              <a:t> &amp; dose-response</a:t>
            </a:r>
          </a:p>
          <a:p>
            <a:pPr algn="ctr"/>
            <a:r>
              <a:rPr lang="en-US" sz="1000" i="1" dirty="0">
                <a:solidFill>
                  <a:schemeClr val="bg1"/>
                </a:solidFill>
              </a:rPr>
              <a:t>~2–3 weeks</a:t>
            </a:r>
          </a:p>
        </p:txBody>
      </p:sp>
      <p:sp>
        <p:nvSpPr>
          <p:cNvPr id="34" name="Step 4"/>
          <p:cNvSpPr/>
          <p:nvPr/>
        </p:nvSpPr>
        <p:spPr>
          <a:xfrm>
            <a:off x="6590971" y="1457072"/>
            <a:ext cx="1938664" cy="746202"/>
          </a:xfrm>
          <a:prstGeom prst="roundRect">
            <a:avLst>
              <a:gd name="adj" fmla="val 12000"/>
            </a:avLst>
          </a:prstGeom>
          <a:solidFill>
            <a:srgbClr val="5B9BD5"/>
          </a:solidFill>
          <a:ln>
            <a:noFill/>
          </a:ln>
        </p:spPr>
        <p:txBody>
          <a:bodyPr rtlCol="0" anchor="ctr">
            <a:normAutofit/>
          </a:bodyPr>
          <a:lstStyle/>
          <a:p>
            <a:pPr algn="ctr"/>
            <a:r>
              <a:rPr lang="en-US" sz="1200" b="1" dirty="0">
                <a:solidFill>
                  <a:schemeClr val="bg1"/>
                </a:solidFill>
              </a:rPr>
              <a:t>Sample synthesis</a:t>
            </a:r>
          </a:p>
          <a:p>
            <a:pPr algn="ctr"/>
            <a:r>
              <a:rPr lang="en-US" sz="1000" i="1" dirty="0">
                <a:solidFill>
                  <a:schemeClr val="bg1"/>
                </a:solidFill>
              </a:rPr>
              <a:t>~1–2 weeks</a:t>
            </a:r>
          </a:p>
        </p:txBody>
      </p:sp>
      <p:sp>
        <p:nvSpPr>
          <p:cNvPr id="4" name="TextBox 3">
            <a:extLst>
              <a:ext uri="{FF2B5EF4-FFF2-40B4-BE49-F238E27FC236}">
                <a16:creationId xmlns:a16="http://schemas.microsoft.com/office/drawing/2014/main" id="{7F2487C9-B441-410B-E12E-9AFF8D168097}"/>
              </a:ext>
            </a:extLst>
          </p:cNvPr>
          <p:cNvSpPr txBox="1"/>
          <p:nvPr/>
        </p:nvSpPr>
        <p:spPr>
          <a:xfrm>
            <a:off x="320329" y="5547497"/>
            <a:ext cx="7407826" cy="307777"/>
          </a:xfrm>
          <a:prstGeom prst="rect">
            <a:avLst/>
          </a:prstGeom>
          <a:noFill/>
        </p:spPr>
        <p:txBody>
          <a:bodyPr wrap="square" rtlCol="0">
            <a:spAutoFit/>
          </a:bodyPr>
          <a:lstStyle/>
          <a:p>
            <a:r>
              <a:rPr lang="en-US" sz="1400" dirty="0">
                <a:solidFill>
                  <a:srgbClr val="FF0000"/>
                </a:solidFill>
              </a:rPr>
              <a:t>* Final pricing provided in a formal quote. Phase 2 SELEX in urine is scoped separately if needed.</a:t>
            </a:r>
          </a:p>
        </p:txBody>
      </p:sp>
    </p:spTree>
    <p:extLst>
      <p:ext uri="{BB962C8B-B14F-4D97-AF65-F5344CB8AC3E}">
        <p14:creationId xmlns:p14="http://schemas.microsoft.com/office/powerpoint/2010/main" val="9427069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10429</TotalTime>
  <Words>1438</Words>
  <Application>Microsoft Office PowerPoint</Application>
  <PresentationFormat>On-screen Show (4:3)</PresentationFormat>
  <Paragraphs>104</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D-DIN</vt:lpstr>
      <vt:lpstr>Wingdings</vt:lpstr>
      <vt:lpstr>Office Theme</vt:lpstr>
      <vt:lpstr>Overview Technology </vt:lpstr>
      <vt:lpstr>Technology Overview</vt:lpstr>
      <vt:lpstr>VennPlex SELEX (Patented by BasePair)</vt:lpstr>
      <vt:lpstr>Value Proposition vs. Competitors</vt:lpstr>
      <vt:lpstr>Project Challenge &amp; Overall Strategy</vt:lpstr>
      <vt:lpstr>Workflow overview</vt:lpstr>
      <vt:lpstr>Timeline and Milestones – Phase 1 Feasibility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Graham Long</dc:creator>
  <cp:lastModifiedBy>Bill Jackson</cp:lastModifiedBy>
  <cp:revision>14</cp:revision>
  <cp:lastPrinted>2024-02-22T16:19:46Z</cp:lastPrinted>
  <dcterms:created xsi:type="dcterms:W3CDTF">2017-02-21T21:43:25Z</dcterms:created>
  <dcterms:modified xsi:type="dcterms:W3CDTF">2026-05-29T16:16:41Z</dcterms:modified>
</cp:coreProperties>
</file>